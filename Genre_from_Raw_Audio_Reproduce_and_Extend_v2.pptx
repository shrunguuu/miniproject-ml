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aper, the task and the data" id="{3866f4d1-6371-070c-1281-05c5656dc481}">
          <p14:sldIdLst>
            <p14:sldId id="256"/>
            <p14:sldId id="257"/>
            <p14:sldId id="258"/>
            <p14:sldId id="259"/>
          </p14:sldIdLst>
        </p14:section>
        <p14:section name="Part 1: reproducing the reported results" id="{933ae347-4eb2-c81c-7db7-15752e24d63b}">
          <p14:sldIdLst>
            <p14:sldId id="260"/>
            <p14:sldId id="261"/>
            <p14:sldId id="262"/>
          </p14:sldIdLst>
        </p14:section>
        <p14:section name="Part 2: the additional 1-D CNN model" id="{1c483fd3-e986-223c-9bc7-5e43fe36ce18}">
          <p14:sldIdLst>
            <p14:sldId id="263"/>
            <p14:sldId id="264"/>
            <p14:sldId id="265"/>
            <p14:sldId id="266"/>
            <p14:sldId id="267"/>
          </p14:sldIdLst>
        </p14:section>
        <p14:section name="Conclusions and live demo" id="{484b22d4-37b3-e5f6-e52a-0b0759fb6a1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reference paper. The task has two parts: reproduce the paper's results, then add one model the paper does not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goal is to learn style encodings from raw audio, using genre as the proxy. Its best model is the Deep Softmax Autoencoder, which combines reconstruction and classification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steps follow the paper and the authors' code. Each example is a 500-dimensional vector of pooled amplitudes. The PCA of this raw data shows no separation between genres. Cleaning: data.py checks every file while loading and skips files that fail to decode or are under 90 % of the expected length. On our dataset copy, jazz.00054.wav failed with a LibsndfileError and was skipped, leaving 399 songs and 7,980 segments (classical 2,000, jazz 1,980, metal 2,000, pop 2,000), split 6,000 / 1,000 / 980. The full-run results in this deck come from the original experiment, which was run before this cleaning step on a copy where all 400 songs loaded (8,000 segments, split 6,000 / 1,000 / 1,000). Those results were not retrained on the cleaned 7,980-segment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Hyperparameters are taken from the paper's Figure 2 and Section 4.3. Where the paper is silent, for example the layer activations, we used the authors' public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reference models reproduce closely. The baseline is slightly better than reported, and the DSAE is about 3.5 points lower on test. Explain the differences listed in the right-hand card. These are the original saved full-run results (400 songs). The short notebook runs on the cleaned data (two-layer NN 40.3 %, CNN 79.9 % after 3 epochs) are demonstrations and do not replace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per-class number is within about 0.06 of the paper's, and the ordering of genres by F1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src/check_decoder.py loads all five saved autoencoder checkpoints (vanilla AE seed 0; DSAE seeds 0, 1 and 2; DSAE song-level run) and runs them on all 8,000 segments of the original dataset. In every case the maximum decoder output is 0.0 and no output is non-zero, and the test reconstruction MSE equals the variance of the test segments (for example 0.01173 vs 0.01172), so the reconstruction is no better than predicting silence. The final-ReLU design comes from the authors' code. The paper presents the reconstruction loss as the key idea, but in this implementation it contributes nothing to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the choice: it is the inductive bias the input type calls for, not a bigger model. If the panel asks about other options, XGBoost or random forest on raw samples would suffer from the same position-dependence as the MLP.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bars use the paper's protocol. The orange bars are the stricter song-level split, covered two slides later. Dashed lines are the paper's reported test accuracies.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DSAE's metal-pop confusion (0.26 and 0.35) almost disappears with the CNN. Pop remains the hardest genre, which agrees with the paper's observation that pop has the least distinct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qualitative evaluation is the paper's main one. Our DSAE plot reproduces the paper's shape, and the CNN gives a much cleaner genre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additional experiment, not part of the original paper. The CNN's accuracy drops on the song-level split, suggesting that the segment-level split may give it an advantage when segments from the same song appear in both training and test sets. The MLP results increase slightly in this run, but the song-level comparison uses only one seed. All numbers on this slide are from the original saved experiment (400 songs).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a linear decoder output so the reconstruction loss matters, a CNN autoencoder for style encodings, and all 10 GTZAN genres. All accuracy figures here are from the original saved experiment (400 songs, 8,000 segments), not from a retraining on the cleaned 399-song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live. Show one random song and one file the panel picks. Then walk through the code: data.py, models.py, train.py. The terminal output on the slide is a saved example; live output on other songs will differ. Full-run results use saved checkpoints; the notebook's short training runs are illustrative runs on the cleaned dataset (two-layer NN 40.3 %, CNN 79.9 % after only 3 epochs) and are not comparable to the full-run 87.3 %.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 Part 1">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rtlCol="0"/>
          <a:lstStyle>
            <a:lvl1pPr indent="0" marL="0">
              <a:buNone/>
              <a:defRPr lang="en-US" sz="1200" b="1" spc="200" kern="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rtlCol="0"/>
          <a:lstStyle>
            <a:lvl1pPr indent="0" marL="0">
              <a:buNone/>
              <a:defRPr lang="en-US" sz="1100" dirty="0">
                <a:solidFill>
                  <a:schemeClr val="accent6"/>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 Part 2">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rtlCol="0"/>
          <a:lstStyle>
            <a:lvl1pPr indent="0" marL="0">
              <a:buNone/>
              <a:defRPr lang="en-US" sz="1200" b="1" spc="200" kern="0" dirty="0">
                <a:solidFill>
                  <a:schemeClr val="accent2"/>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rtlCol="0"/>
          <a:lstStyle>
            <a:lvl1pPr indent="0" marL="0">
              <a:buNone/>
              <a:defRPr lang="en-US" sz="1100" dirty="0">
                <a:solidFill>
                  <a:schemeClr val="accent6"/>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20040"/>
          </a:xfrm>
          <a:prstGeom prst="rect">
            <a:avLst/>
          </a:prstGeom>
          <a:noFill/>
          <a:ln/>
        </p:spPr>
        <p:txBody>
          <a:bodyPr wrap="square" rtlCol="0"/>
          <a:lstStyle>
            <a:lvl1pPr indent="0" marL="0">
              <a:buNone/>
              <a:defRPr lang="en-US" sz="1200" b="1" spc="200" kern="0" dirty="0">
                <a:solidFill>
                  <a:schemeClr val="accent3"/>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685800" y="960120"/>
            <a:ext cx="10820095"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20040"/>
          </a:xfrm>
          <a:prstGeom prst="rect">
            <a:avLst/>
          </a:prstGeom>
          <a:noFill/>
          <a:ln/>
        </p:spPr>
        <p:txBody>
          <a:bodyPr wrap="square" lIns="0" tIns="0" rIns="0" bIns="0" rtlCol="0" anchor="t"/>
          <a:lstStyle/>
          <a:p>
            <a:pPr indent="0" marL="0">
              <a:buNone/>
            </a:pPr>
            <a:r>
              <a:rPr lang="en-US" sz="1200" b="1" spc="200" kern="0" dirty="0">
                <a:solidFill>
                  <a:schemeClr val="accent3"/>
                </a:solidFill>
                <a:latin typeface="Courier New" pitchFamily="34" charset="0"/>
                <a:ea typeface="Courier New" pitchFamily="34" charset="-122"/>
                <a:cs typeface="Courier New" pitchFamily="34" charset="-120"/>
              </a:rPr>
              <a:t>UE24CS352A MACHINE LEARNING · MINI-PROJECT</a:t>
            </a:r>
            <a:endParaRPr lang="en-US" sz="1200" dirty="0"/>
          </a:p>
        </p:txBody>
      </p:sp>
      <p:sp>
        <p:nvSpPr>
          <p:cNvPr id="3" name="Text 0"/>
          <p:cNvSpPr/>
          <p:nvPr>
            <p:ph idx="101" type="title" hasCustomPrompt="1"/>
          </p:nvPr>
        </p:nvSpPr>
        <p:spPr>
          <a:xfrm>
            <a:off x="685800" y="96012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rPr>
              <a:t>Music genre from raw audio: reproduce &amp; extend</a:t>
            </a:r>
            <a:endParaRPr lang="en-US" sz="4000" dirty="0"/>
          </a:p>
        </p:txBody>
      </p:sp>
      <p:sp>
        <p:nvSpPr>
          <p:cNvPr id="4" name="Reference"/>
          <p:cNvSpPr txBox="1"/>
          <p:nvPr/>
        </p:nvSpPr>
        <p:spPr>
          <a:xfrm>
            <a:off x="685800" y="2743200"/>
            <a:ext cx="9601200" cy="822960"/>
          </a:xfrm>
          <a:prstGeom prst="rect">
            <a:avLst/>
          </a:prstGeom>
          <a:noFill/>
          <a:ln/>
        </p:spPr>
        <p:txBody>
          <a:bodyPr wrap="square" lIns="0" tIns="0" rIns="0" bIns="0" rtlCol="0" anchor="t"/>
          <a:lstStyle/>
          <a:p>
            <a:pPr indent="0" marL="0">
              <a:buNone/>
            </a:pPr>
            <a:r>
              <a:rPr lang="en-US" sz="2000" dirty="0">
                <a:solidFill>
                  <a:schemeClr val="accent3"/>
                </a:solidFill>
              </a:rPr>
              <a:t>Reference: Sawhney, Vasavada &amp; Wang, “Latent Feature Extraction for Musical Genres from Raw Audio”, NeurIPS 2018 workshop</a:t>
            </a:r>
            <a:endParaRPr lang="en-US" sz="2000" dirty="0"/>
          </a:p>
        </p:txBody>
      </p:sp>
      <p:sp>
        <p:nvSpPr>
          <p:cNvPr id="5" name="Team"/>
          <p:cNvSpPr txBox="1"/>
          <p:nvPr/>
        </p:nvSpPr>
        <p:spPr>
          <a:xfrm>
            <a:off x="685800" y="5257800"/>
            <a:ext cx="6400800" cy="685800"/>
          </a:xfrm>
          <a:prstGeom prst="rect">
            <a:avLst/>
          </a:prstGeom>
          <a:noFill/>
          <a:ln/>
        </p:spPr>
        <p:txBody>
          <a:bodyPr wrap="square" lIns="0" tIns="0" rIns="0" bIns="0" rtlCol="0" anchor="t"/>
          <a:lstStyle/>
          <a:p>
            <a:pPr indent="0" marL="0">
              <a:buNone/>
            </a:pPr>
            <a:r>
              <a:rPr lang="en-US" sz="1800" dirty="0">
                <a:solidFill>
                  <a:schemeClr val="bg1"/>
                </a:solidFill>
              </a:rPr>
              <a:t>Shrungashree KR  ·  PES2UG24CS497</a:t>
            </a:r>
            <a:endParaRPr lang="en-US" sz="1800" dirty="0"/>
          </a:p>
          <a:p>
            <a:pPr indent="0" marL="0">
              <a:buNone/>
            </a:pPr>
            <a:r>
              <a:rPr lang="en-US" sz="1800" dirty="0">
                <a:solidFill>
                  <a:schemeClr val="bg1"/>
                </a:solidFill>
              </a:rPr>
              <a:t>Shashank Verma  ·  PES2UG24CS462</a:t>
            </a:r>
            <a:endParaRPr lang="en-US" sz="1800" dirty="0"/>
          </a:p>
        </p:txBody>
      </p:sp>
      <p:sp>
        <p:nvSpPr>
          <p:cNvPr id="6" name="Tags"/>
          <p:cNvSpPr txBox="1"/>
          <p:nvPr/>
        </p:nvSpPr>
        <p:spPr>
          <a:xfrm>
            <a:off x="7848295" y="5623560"/>
            <a:ext cx="3657600" cy="320040"/>
          </a:xfrm>
          <a:prstGeom prst="rect">
            <a:avLst/>
          </a:prstGeom>
          <a:noFill/>
          <a:ln/>
        </p:spPr>
        <p:txBody>
          <a:bodyPr wrap="square" lIns="0" tIns="0" rIns="0" bIns="0" rtlCol="0" anchor="t"/>
          <a:lstStyle/>
          <a:p>
            <a:pPr algn="r" indent="0" marL="0">
              <a:buNone/>
            </a:pPr>
            <a:r>
              <a:rPr lang="en-US" sz="1400" dirty="0">
                <a:solidFill>
                  <a:schemeClr val="accent3"/>
                </a:solidFill>
                <a:latin typeface="Courier New" pitchFamily="34" charset="0"/>
                <a:ea typeface="Courier New" pitchFamily="34" charset="-122"/>
                <a:cs typeface="Courier New" pitchFamily="34" charset="-120"/>
              </a:rPr>
              <a:t>GTZAN · PyTorch</a:t>
            </a:r>
            <a:endParaRPr lang="en-US" sz="14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THE TASK</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Learn genre straight from the waveform – no MFCCs, no spectrograms</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Paper reports 94.9 / 64.1 / 65.3 % train / dev / test accuracy for the DSAE</a:t>
            </a:r>
            <a:endParaRPr lang="en-US" sz="1100" dirty="0"/>
          </a:p>
        </p:txBody>
      </p:sp>
      <p:sp>
        <p:nvSpPr>
          <p:cNvPr id="5" name="Card 1"/>
          <p:cNvSpPr/>
          <p:nvPr/>
        </p:nvSpPr>
        <p:spPr>
          <a:xfrm>
            <a:off x="685800" y="2057400"/>
            <a:ext cx="5227168" cy="2834640"/>
          </a:xfrm>
          <a:prstGeom prst="roundRect">
            <a:avLst>
              <a:gd name="adj" fmla="val 3871"/>
            </a:avLst>
          </a:prstGeom>
          <a:solidFill>
            <a:schemeClr val="bg1"/>
          </a:solidFill>
          <a:ln w="9525">
            <a:solidFill>
              <a:srgbClr val="DDDBD3"/>
            </a:solidFill>
            <a:prstDash val="solid"/>
          </a:ln>
        </p:spPr>
      </p:sp>
      <p:sp>
        <p:nvSpPr>
          <p:cNvPr id="6" name="Text 4"/>
          <p:cNvSpPr txBox="1"/>
          <p:nvPr/>
        </p:nvSpPr>
        <p:spPr>
          <a:xfrm>
            <a:off x="1051560" y="2377440"/>
            <a:ext cx="4495648"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PART 1 · REPRODUCE</a:t>
            </a:r>
            <a:endParaRPr lang="en-US" sz="1200" dirty="0"/>
          </a:p>
        </p:txBody>
      </p:sp>
      <p:sp>
        <p:nvSpPr>
          <p:cNvPr id="7" name="Text 5"/>
          <p:cNvSpPr txBox="1"/>
          <p:nvPr/>
        </p:nvSpPr>
        <p:spPr>
          <a:xfrm>
            <a:off x="1051560" y="2743200"/>
            <a:ext cx="4495648" cy="457200"/>
          </a:xfrm>
          <a:prstGeom prst="rect">
            <a:avLst/>
          </a:prstGeom>
          <a:noFill/>
          <a:ln/>
        </p:spPr>
        <p:txBody>
          <a:bodyPr wrap="square" lIns="0" tIns="0" rIns="0" bIns="0" rtlCol="0" anchor="t"/>
          <a:lstStyle/>
          <a:p>
            <a:pPr indent="0" marL="0">
              <a:buNone/>
            </a:pPr>
            <a:r>
              <a:rPr lang="en-US" sz="2200" b="1" dirty="0">
                <a:solidFill>
                  <a:schemeClr val="tx1"/>
                </a:solidFill>
              </a:rPr>
              <a:t>The paper's three models</a:t>
            </a:r>
            <a:endParaRPr lang="en-US" sz="2200" dirty="0"/>
          </a:p>
        </p:txBody>
      </p:sp>
      <p:sp>
        <p:nvSpPr>
          <p:cNvPr id="8" name="Text 6"/>
          <p:cNvSpPr txBox="1"/>
          <p:nvPr/>
        </p:nvSpPr>
        <p:spPr>
          <a:xfrm>
            <a:off x="1051560" y="3383280"/>
            <a:ext cx="4495648" cy="1325880"/>
          </a:xfrm>
          <a:prstGeom prst="rect">
            <a:avLst/>
          </a:prstGeom>
          <a:noFill/>
          <a:ln/>
        </p:spPr>
        <p:txBody>
          <a:bodyPr wrap="square" lIns="0" tIns="0" rIns="0" bIns="0" rtlCol="0" anchor="t"/>
          <a:lstStyle/>
          <a:p>
            <a:pPr indent="0" marL="0">
              <a:buNone/>
            </a:pPr>
            <a:r>
              <a:rPr lang="en-US" sz="1600" dirty="0">
                <a:solidFill>
                  <a:schemeClr val="tx2"/>
                </a:solidFill>
              </a:rPr>
              <a:t>Two-layer NN baseline, a vanilla autoencoder, and the Deep Softmax Autoencoder (DSAE): an autoencoder whose 64-d bottleneck also feeds a genre classifier. Same data, split, hyperparameters and metrics.</a:t>
            </a:r>
            <a:endParaRPr lang="en-US" sz="1600" dirty="0"/>
          </a:p>
        </p:txBody>
      </p:sp>
      <p:sp>
        <p:nvSpPr>
          <p:cNvPr id="9" name="Card 2"/>
          <p:cNvSpPr/>
          <p:nvPr/>
        </p:nvSpPr>
        <p:spPr>
          <a:xfrm>
            <a:off x="6278728" y="2057400"/>
            <a:ext cx="5227168" cy="2834640"/>
          </a:xfrm>
          <a:prstGeom prst="roundRect">
            <a:avLst>
              <a:gd name="adj" fmla="val 3871"/>
            </a:avLst>
          </a:prstGeom>
          <a:solidFill>
            <a:schemeClr val="bg1"/>
          </a:solidFill>
          <a:ln w="9525">
            <a:solidFill>
              <a:srgbClr val="DDDBD3"/>
            </a:solidFill>
            <a:prstDash val="solid"/>
          </a:ln>
        </p:spPr>
      </p:sp>
      <p:sp>
        <p:nvSpPr>
          <p:cNvPr id="10" name="Text 8"/>
          <p:cNvSpPr txBox="1"/>
          <p:nvPr/>
        </p:nvSpPr>
        <p:spPr>
          <a:xfrm>
            <a:off x="6644488" y="2377440"/>
            <a:ext cx="4495648"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PART 2 · EXTEND</a:t>
            </a:r>
            <a:endParaRPr lang="en-US" sz="1200" dirty="0"/>
          </a:p>
        </p:txBody>
      </p:sp>
      <p:sp>
        <p:nvSpPr>
          <p:cNvPr id="11" name="Text 9"/>
          <p:cNvSpPr txBox="1"/>
          <p:nvPr/>
        </p:nvSpPr>
        <p:spPr>
          <a:xfrm>
            <a:off x="6644488" y="2743200"/>
            <a:ext cx="4495648" cy="457200"/>
          </a:xfrm>
          <a:prstGeom prst="rect">
            <a:avLst/>
          </a:prstGeom>
          <a:noFill/>
          <a:ln/>
        </p:spPr>
        <p:txBody>
          <a:bodyPr wrap="square" lIns="0" tIns="0" rIns="0" bIns="0" rtlCol="0" anchor="t"/>
          <a:lstStyle/>
          <a:p>
            <a:pPr indent="0" marL="0">
              <a:buNone/>
            </a:pPr>
            <a:r>
              <a:rPr lang="en-US" sz="2200" b="1" dirty="0">
                <a:solidFill>
                  <a:schemeClr val="tx1"/>
                </a:solidFill>
              </a:rPr>
              <a:t>One model the paper never tried</a:t>
            </a:r>
            <a:endParaRPr lang="en-US" sz="2200" dirty="0"/>
          </a:p>
        </p:txBody>
      </p:sp>
      <p:sp>
        <p:nvSpPr>
          <p:cNvPr id="12" name="Text 10"/>
          <p:cNvSpPr txBox="1"/>
          <p:nvPr/>
        </p:nvSpPr>
        <p:spPr>
          <a:xfrm>
            <a:off x="6644488" y="3383280"/>
            <a:ext cx="4495648" cy="1325880"/>
          </a:xfrm>
          <a:prstGeom prst="rect">
            <a:avLst/>
          </a:prstGeom>
          <a:noFill/>
          <a:ln/>
        </p:spPr>
        <p:txBody>
          <a:bodyPr wrap="square" lIns="0" tIns="0" rIns="0" bIns="0" rtlCol="0" anchor="t"/>
          <a:lstStyle/>
          <a:p>
            <a:pPr indent="0" marL="0">
              <a:buNone/>
            </a:pPr>
            <a:r>
              <a:rPr lang="en-US" sz="1600" dirty="0">
                <a:solidFill>
                  <a:schemeClr val="tx2"/>
                </a:solidFill>
              </a:rPr>
              <a:t>A 1-D convolutional network on exactly the same 500-sample raw input, the same split and the same metrics, so the comparison is fair.</a:t>
            </a:r>
            <a:endParaRPr lang="en-US" sz="16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DATASET &amp; PREPROCESSING</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GTZAN, 4 genres → raw-audio vectors of length 500</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src/data.py · identical to the authors' public preprocessing code</a:t>
            </a:r>
            <a:endParaRPr lang="en-US" sz="1100" dirty="0"/>
          </a:p>
        </p:txBody>
      </p:sp>
      <p:sp>
        <p:nvSpPr>
          <p:cNvPr id="5" name="Stat 1"/>
          <p:cNvSpPr/>
          <p:nvPr/>
        </p:nvSpPr>
        <p:spPr>
          <a:xfrm>
            <a:off x="685800" y="2011680"/>
            <a:ext cx="2017715" cy="1600200"/>
          </a:xfrm>
          <a:prstGeom prst="roundRect">
            <a:avLst>
              <a:gd name="adj" fmla="val 6857"/>
            </a:avLst>
          </a:prstGeom>
          <a:solidFill>
            <a:schemeClr val="bg1"/>
          </a:solidFill>
          <a:ln w="9525">
            <a:solidFill>
              <a:srgbClr val="DDDBD3"/>
            </a:solidFill>
            <a:prstDash val="solid"/>
          </a:ln>
        </p:spPr>
      </p:sp>
      <p:sp>
        <p:nvSpPr>
          <p:cNvPr id="6" name="Text 4"/>
          <p:cNvSpPr txBox="1"/>
          <p:nvPr/>
        </p:nvSpPr>
        <p:spPr>
          <a:xfrm>
            <a:off x="886968" y="2176272"/>
            <a:ext cx="1615379" cy="457200"/>
          </a:xfrm>
          <a:prstGeom prst="rect">
            <a:avLst/>
          </a:prstGeom>
          <a:noFill/>
          <a:ln/>
        </p:spPr>
        <p:txBody>
          <a:bodyPr wrap="square" lIns="0" tIns="0" rIns="0" bIns="0" rtlCol="0" anchor="t"/>
          <a:lstStyle/>
          <a:p>
            <a:pPr indent="0" marL="0">
              <a:buNone/>
            </a:pPr>
            <a:r>
              <a:rPr lang="en-US" sz="2400" b="1" dirty="0">
                <a:solidFill>
                  <a:schemeClr val="accent1"/>
                </a:solidFill>
              </a:rPr>
              <a:t>400</a:t>
            </a:r>
            <a:endParaRPr lang="en-US" sz="2400" dirty="0"/>
          </a:p>
        </p:txBody>
      </p:sp>
      <p:sp>
        <p:nvSpPr>
          <p:cNvPr id="7" name="Text 5"/>
          <p:cNvSpPr txBox="1"/>
          <p:nvPr/>
        </p:nvSpPr>
        <p:spPr>
          <a:xfrm>
            <a:off x="886968" y="2670048"/>
            <a:ext cx="1615379" cy="868680"/>
          </a:xfrm>
          <a:prstGeom prst="rect">
            <a:avLst/>
          </a:prstGeom>
          <a:noFill/>
          <a:ln/>
        </p:spPr>
        <p:txBody>
          <a:bodyPr wrap="square" lIns="0" tIns="0" rIns="0" bIns="0" rtlCol="0" anchor="t"/>
          <a:lstStyle/>
          <a:p>
            <a:pPr indent="0" marL="0">
              <a:buNone/>
            </a:pPr>
            <a:r>
              <a:rPr lang="en-US" sz="1300" dirty="0">
                <a:solidFill>
                  <a:schemeClr val="tx2"/>
                </a:solidFill>
              </a:rPr>
              <a:t>songs in the original run (classical, jazz, metal, pop); 399 after cleaning</a:t>
            </a:r>
            <a:endParaRPr lang="en-US" sz="1300" dirty="0"/>
          </a:p>
        </p:txBody>
      </p:sp>
      <p:sp>
        <p:nvSpPr>
          <p:cNvPr id="8" name="Stat 2"/>
          <p:cNvSpPr/>
          <p:nvPr/>
        </p:nvSpPr>
        <p:spPr>
          <a:xfrm>
            <a:off x="2886395" y="2011680"/>
            <a:ext cx="2017715" cy="1600200"/>
          </a:xfrm>
          <a:prstGeom prst="roundRect">
            <a:avLst>
              <a:gd name="adj" fmla="val 6857"/>
            </a:avLst>
          </a:prstGeom>
          <a:solidFill>
            <a:schemeClr val="bg1"/>
          </a:solidFill>
          <a:ln w="9525">
            <a:solidFill>
              <a:srgbClr val="DDDBD3"/>
            </a:solidFill>
            <a:prstDash val="solid"/>
          </a:ln>
        </p:spPr>
      </p:sp>
      <p:sp>
        <p:nvSpPr>
          <p:cNvPr id="9" name="Text 7"/>
          <p:cNvSpPr txBox="1"/>
          <p:nvPr/>
        </p:nvSpPr>
        <p:spPr>
          <a:xfrm>
            <a:off x="3087563" y="2176272"/>
            <a:ext cx="1615379" cy="457200"/>
          </a:xfrm>
          <a:prstGeom prst="rect">
            <a:avLst/>
          </a:prstGeom>
          <a:noFill/>
          <a:ln/>
        </p:spPr>
        <p:txBody>
          <a:bodyPr wrap="square" lIns="0" tIns="0" rIns="0" bIns="0" rtlCol="0" anchor="t"/>
          <a:lstStyle/>
          <a:p>
            <a:pPr indent="0" marL="0">
              <a:buNone/>
            </a:pPr>
            <a:r>
              <a:rPr lang="en-US" sz="2400" b="1" dirty="0">
                <a:solidFill>
                  <a:schemeClr val="accent1"/>
                </a:solidFill>
              </a:rPr>
              <a:t>600k</a:t>
            </a:r>
            <a:endParaRPr lang="en-US" sz="2400" dirty="0"/>
          </a:p>
        </p:txBody>
      </p:sp>
      <p:sp>
        <p:nvSpPr>
          <p:cNvPr id="10" name="Text 8"/>
          <p:cNvSpPr txBox="1"/>
          <p:nvPr/>
        </p:nvSpPr>
        <p:spPr>
          <a:xfrm>
            <a:off x="3087563" y="2670048"/>
            <a:ext cx="1615379" cy="868680"/>
          </a:xfrm>
          <a:prstGeom prst="rect">
            <a:avLst/>
          </a:prstGeom>
          <a:noFill/>
          <a:ln/>
        </p:spPr>
        <p:txBody>
          <a:bodyPr wrap="square" lIns="0" tIns="0" rIns="0" bIns="0" rtlCol="0" anchor="t"/>
          <a:lstStyle/>
          <a:p>
            <a:pPr indent="0" marL="0">
              <a:buNone/>
            </a:pPr>
            <a:r>
              <a:rPr lang="en-US" sz="1300" dirty="0">
                <a:solidFill>
                  <a:schemeClr val="tx2"/>
                </a:solidFill>
              </a:rPr>
              <a:t>samples kept at 22,050 Hz (librosa)</a:t>
            </a:r>
            <a:endParaRPr lang="en-US" sz="1300" dirty="0"/>
          </a:p>
        </p:txBody>
      </p:sp>
      <p:sp>
        <p:nvSpPr>
          <p:cNvPr id="11" name="Stat 3"/>
          <p:cNvSpPr/>
          <p:nvPr/>
        </p:nvSpPr>
        <p:spPr>
          <a:xfrm>
            <a:off x="5086990" y="2011680"/>
            <a:ext cx="2017715" cy="1600200"/>
          </a:xfrm>
          <a:prstGeom prst="roundRect">
            <a:avLst>
              <a:gd name="adj" fmla="val 6857"/>
            </a:avLst>
          </a:prstGeom>
          <a:solidFill>
            <a:schemeClr val="bg1"/>
          </a:solidFill>
          <a:ln w="9525">
            <a:solidFill>
              <a:srgbClr val="DDDBD3"/>
            </a:solidFill>
            <a:prstDash val="solid"/>
          </a:ln>
        </p:spPr>
      </p:sp>
      <p:sp>
        <p:nvSpPr>
          <p:cNvPr id="12" name="Text 10"/>
          <p:cNvSpPr txBox="1"/>
          <p:nvPr/>
        </p:nvSpPr>
        <p:spPr>
          <a:xfrm>
            <a:off x="5288158" y="2176272"/>
            <a:ext cx="1615379" cy="457200"/>
          </a:xfrm>
          <a:prstGeom prst="rect">
            <a:avLst/>
          </a:prstGeom>
          <a:noFill/>
          <a:ln/>
        </p:spPr>
        <p:txBody>
          <a:bodyPr wrap="square" lIns="0" tIns="0" rIns="0" bIns="0" rtlCol="0" anchor="t"/>
          <a:lstStyle/>
          <a:p>
            <a:pPr indent="0" marL="0">
              <a:buNone/>
            </a:pPr>
            <a:r>
              <a:rPr lang="en-US" sz="2400" b="1" dirty="0">
                <a:solidFill>
                  <a:schemeClr val="accent1"/>
                </a:solidFill>
              </a:rPr>
              <a:t>÷ 40</a:t>
            </a:r>
            <a:endParaRPr lang="en-US" sz="2400" dirty="0"/>
          </a:p>
        </p:txBody>
      </p:sp>
      <p:sp>
        <p:nvSpPr>
          <p:cNvPr id="13" name="Text 11"/>
          <p:cNvSpPr txBox="1"/>
          <p:nvPr/>
        </p:nvSpPr>
        <p:spPr>
          <a:xfrm>
            <a:off x="5288158" y="2670048"/>
            <a:ext cx="1615379" cy="868680"/>
          </a:xfrm>
          <a:prstGeom prst="rect">
            <a:avLst/>
          </a:prstGeom>
          <a:noFill/>
          <a:ln/>
        </p:spPr>
        <p:txBody>
          <a:bodyPr wrap="square" lIns="0" tIns="0" rIns="0" bIns="0" rtlCol="0" anchor="t"/>
          <a:lstStyle/>
          <a:p>
            <a:pPr indent="0" marL="0">
              <a:buNone/>
            </a:pPr>
            <a:r>
              <a:rPr lang="en-US" sz="1300" dirty="0">
                <a:solidFill>
                  <a:schemeClr val="tx2"/>
                </a:solidFill>
              </a:rPr>
              <a:t>average pooling → 15,000 values (≈551 Hz)</a:t>
            </a:r>
            <a:endParaRPr lang="en-US" sz="1300" dirty="0"/>
          </a:p>
        </p:txBody>
      </p:sp>
      <p:sp>
        <p:nvSpPr>
          <p:cNvPr id="14" name="Stat 4"/>
          <p:cNvSpPr/>
          <p:nvPr/>
        </p:nvSpPr>
        <p:spPr>
          <a:xfrm>
            <a:off x="7287585" y="2011680"/>
            <a:ext cx="2017715" cy="1600200"/>
          </a:xfrm>
          <a:prstGeom prst="roundRect">
            <a:avLst>
              <a:gd name="adj" fmla="val 6857"/>
            </a:avLst>
          </a:prstGeom>
          <a:solidFill>
            <a:schemeClr val="bg1"/>
          </a:solidFill>
          <a:ln w="9525">
            <a:solidFill>
              <a:srgbClr val="DDDBD3"/>
            </a:solidFill>
            <a:prstDash val="solid"/>
          </a:ln>
        </p:spPr>
      </p:sp>
      <p:sp>
        <p:nvSpPr>
          <p:cNvPr id="15" name="Text 13"/>
          <p:cNvSpPr txBox="1"/>
          <p:nvPr/>
        </p:nvSpPr>
        <p:spPr>
          <a:xfrm>
            <a:off x="7488753" y="2176272"/>
            <a:ext cx="1615379" cy="457200"/>
          </a:xfrm>
          <a:prstGeom prst="rect">
            <a:avLst/>
          </a:prstGeom>
          <a:noFill/>
          <a:ln/>
        </p:spPr>
        <p:txBody>
          <a:bodyPr wrap="square" lIns="0" tIns="0" rIns="0" bIns="0" rtlCol="0" anchor="t"/>
          <a:lstStyle/>
          <a:p>
            <a:pPr indent="0" marL="0">
              <a:buNone/>
            </a:pPr>
            <a:r>
              <a:rPr lang="en-US" sz="2400" b="1" dirty="0">
                <a:solidFill>
                  <a:schemeClr val="accent1"/>
                </a:solidFill>
              </a:rPr>
              <a:t>20 × 500</a:t>
            </a:r>
            <a:endParaRPr lang="en-US" sz="2400" dirty="0"/>
          </a:p>
        </p:txBody>
      </p:sp>
      <p:sp>
        <p:nvSpPr>
          <p:cNvPr id="16" name="Text 14"/>
          <p:cNvSpPr txBox="1"/>
          <p:nvPr/>
        </p:nvSpPr>
        <p:spPr>
          <a:xfrm>
            <a:off x="7488753" y="2670048"/>
            <a:ext cx="1615379" cy="868680"/>
          </a:xfrm>
          <a:prstGeom prst="rect">
            <a:avLst/>
          </a:prstGeom>
          <a:noFill/>
          <a:ln/>
        </p:spPr>
        <p:txBody>
          <a:bodyPr wrap="square" lIns="0" tIns="0" rIns="0" bIns="0" rtlCol="0" anchor="t"/>
          <a:lstStyle/>
          <a:p>
            <a:pPr indent="0" marL="0">
              <a:buNone/>
            </a:pPr>
            <a:r>
              <a:rPr lang="en-US" sz="1300" dirty="0">
                <a:solidFill>
                  <a:schemeClr val="tx2"/>
                </a:solidFill>
              </a:rPr>
              <a:t>segments per song, ≈0.9 s each</a:t>
            </a:r>
            <a:endParaRPr lang="en-US" sz="1300" dirty="0"/>
          </a:p>
        </p:txBody>
      </p:sp>
      <p:sp>
        <p:nvSpPr>
          <p:cNvPr id="17" name="Stat 5"/>
          <p:cNvSpPr/>
          <p:nvPr/>
        </p:nvSpPr>
        <p:spPr>
          <a:xfrm>
            <a:off x="9488180" y="2011680"/>
            <a:ext cx="2017715" cy="1600200"/>
          </a:xfrm>
          <a:prstGeom prst="roundRect">
            <a:avLst>
              <a:gd name="adj" fmla="val 6857"/>
            </a:avLst>
          </a:prstGeom>
          <a:solidFill>
            <a:schemeClr val="tx1"/>
          </a:solidFill>
          <a:ln w="9525">
            <a:solidFill>
              <a:srgbClr val="DDDBD3"/>
            </a:solidFill>
            <a:prstDash val="solid"/>
          </a:ln>
        </p:spPr>
      </p:sp>
      <p:sp>
        <p:nvSpPr>
          <p:cNvPr id="18" name="Text 16"/>
          <p:cNvSpPr txBox="1"/>
          <p:nvPr/>
        </p:nvSpPr>
        <p:spPr>
          <a:xfrm>
            <a:off x="9689348" y="2176272"/>
            <a:ext cx="1615379" cy="457200"/>
          </a:xfrm>
          <a:prstGeom prst="rect">
            <a:avLst/>
          </a:prstGeom>
          <a:noFill/>
          <a:ln/>
        </p:spPr>
        <p:txBody>
          <a:bodyPr wrap="square" lIns="0" tIns="0" rIns="0" bIns="0" rtlCol="0" anchor="t"/>
          <a:lstStyle/>
          <a:p>
            <a:pPr indent="0" marL="0">
              <a:buNone/>
            </a:pPr>
            <a:r>
              <a:rPr lang="en-US" sz="2400" b="1" dirty="0">
                <a:solidFill>
                  <a:schemeClr val="accent3"/>
                </a:solidFill>
              </a:rPr>
              <a:t>6k/1k/1k</a:t>
            </a:r>
            <a:endParaRPr lang="en-US" sz="2400" dirty="0"/>
          </a:p>
        </p:txBody>
      </p:sp>
      <p:sp>
        <p:nvSpPr>
          <p:cNvPr id="19" name="Text 17"/>
          <p:cNvSpPr txBox="1"/>
          <p:nvPr/>
        </p:nvSpPr>
        <p:spPr>
          <a:xfrm>
            <a:off x="9689348" y="2670048"/>
            <a:ext cx="1615379" cy="868680"/>
          </a:xfrm>
          <a:prstGeom prst="rect">
            <a:avLst/>
          </a:prstGeom>
          <a:noFill/>
          <a:ln/>
        </p:spPr>
        <p:txBody>
          <a:bodyPr wrap="square" lIns="0" tIns="0" rIns="0" bIns="0" rtlCol="0" anchor="t"/>
          <a:lstStyle/>
          <a:p>
            <a:pPr indent="0" marL="0">
              <a:buNone/>
            </a:pPr>
            <a:r>
              <a:rPr lang="en-US" sz="1300" dirty="0">
                <a:solidFill>
                  <a:schemeClr val="bg1"/>
                </a:solidFill>
              </a:rPr>
              <a:t>train / dev / test segments in the original run; 6,000 / 1,000 / 980 after cleaning</a:t>
            </a:r>
            <a:endParaRPr lang="en-US" sz="1300" dirty="0"/>
          </a:p>
        </p:txBody>
      </p:sp>
      <p:sp>
        <p:nvSpPr>
          <p:cNvPr id="20" name="Cleaning card"/>
          <p:cNvSpPr/>
          <p:nvPr/>
        </p:nvSpPr>
        <p:spPr>
          <a:xfrm>
            <a:off x="685800" y="3840480"/>
            <a:ext cx="5227168" cy="2331720"/>
          </a:xfrm>
          <a:prstGeom prst="roundRect">
            <a:avLst>
              <a:gd name="adj" fmla="val 4706"/>
            </a:avLst>
          </a:prstGeom>
          <a:solidFill>
            <a:schemeClr val="accent4"/>
          </a:solidFill>
          <a:ln w="9525">
            <a:solidFill>
              <a:srgbClr val="DDDBD3"/>
            </a:solidFill>
            <a:prstDash val="solid"/>
          </a:ln>
        </p:spPr>
      </p:sp>
      <p:sp>
        <p:nvSpPr>
          <p:cNvPr id="21" name="Text 19"/>
          <p:cNvSpPr txBox="1"/>
          <p:nvPr/>
        </p:nvSpPr>
        <p:spPr>
          <a:xfrm>
            <a:off x="1005840" y="4023360"/>
            <a:ext cx="4587088" cy="365760"/>
          </a:xfrm>
          <a:prstGeom prst="rect">
            <a:avLst/>
          </a:prstGeom>
          <a:noFill/>
          <a:ln/>
        </p:spPr>
        <p:txBody>
          <a:bodyPr wrap="square" lIns="0" tIns="0" rIns="0" bIns="0" rtlCol="0" anchor="t"/>
          <a:lstStyle/>
          <a:p>
            <a:pPr indent="0" marL="0">
              <a:buNone/>
            </a:pPr>
            <a:r>
              <a:rPr lang="en-US" sz="1800" b="1" dirty="0">
                <a:solidFill>
                  <a:schemeClr val="tx1"/>
                </a:solidFill>
              </a:rPr>
              <a:t>Data cleaning</a:t>
            </a:r>
            <a:endParaRPr lang="en-US" sz="1800" dirty="0"/>
          </a:p>
        </p:txBody>
      </p:sp>
      <p:sp>
        <p:nvSpPr>
          <p:cNvPr id="22" name="Text 20"/>
          <p:cNvSpPr txBox="1"/>
          <p:nvPr/>
        </p:nvSpPr>
        <p:spPr>
          <a:xfrm>
            <a:off x="1005840" y="4434840"/>
            <a:ext cx="4587088" cy="1600200"/>
          </a:xfrm>
          <a:prstGeom prst="rect">
            <a:avLst/>
          </a:prstGeom>
          <a:noFill/>
          <a:ln/>
        </p:spPr>
        <p:txBody>
          <a:bodyPr wrap="square" lIns="0" tIns="0" rIns="0" bIns="0" rtlCol="0" anchor="t"/>
          <a:lstStyle/>
          <a:p>
            <a:pPr indent="0" marL="0">
              <a:buNone/>
            </a:pPr>
            <a:r>
              <a:rPr lang="en-US" sz="1500" dirty="0">
                <a:solidFill>
                  <a:schemeClr val="tx2"/>
                </a:solidFill>
              </a:rPr>
              <a:t>Every file is checked during loading; unreadable or too-short files are skipped. In our dataset copy, jazz.00054.wav was unreadable and was skipped, leaving 399 songs and 7,980 segments. The full-run results in this deck come from the original experiment, run before this cleaning step on 400 songs (8,000 segments).</a:t>
            </a:r>
            <a:endParaRPr lang="en-US" sz="1500" dirty="0"/>
          </a:p>
        </p:txBody>
      </p:sp>
      <p:sp>
        <p:nvSpPr>
          <p:cNvPr id="23" name="Text 21"/>
          <p:cNvSpPr txBox="1"/>
          <p:nvPr/>
        </p:nvSpPr>
        <p:spPr>
          <a:xfrm>
            <a:off x="6278728" y="4023360"/>
            <a:ext cx="5227168" cy="1828800"/>
          </a:xfrm>
          <a:prstGeom prst="rect">
            <a:avLst/>
          </a:prstGeom>
          <a:noFill/>
          <a:ln/>
        </p:spPr>
        <p:txBody>
          <a:bodyPr wrap="square" lIns="0" tIns="0" rIns="0" bIns="0" rtlCol="0" anchor="t"/>
          <a:lstStyle/>
          <a:p>
            <a:pPr indent="0" marL="0">
              <a:buNone/>
            </a:pPr>
            <a:r>
              <a:rPr lang="en-US" sz="1500" b="1" dirty="0">
                <a:solidFill>
                  <a:schemeClr val="tx1"/>
                </a:solidFill>
              </a:rPr>
              <a:t>No feature engineering: </a:t>
            </a:r>
            <a:pPr indent="0" marL="0">
              <a:buNone/>
            </a:pPr>
            <a:r>
              <a:rPr lang="en-US" sz="1500" dirty="0">
                <a:solidFill>
                  <a:schemeClr val="tx2"/>
                </a:solidFill>
              </a:rPr>
              <a:t>pooling both downsamples and regularises. The split shuffles </a:t>
            </a:r>
            <a:pPr indent="0" marL="0">
              <a:buNone/>
            </a:pPr>
            <a:r>
              <a:rPr lang="en-US" sz="1500" b="1" dirty="0">
                <a:solidFill>
                  <a:schemeClr val="tx1"/>
                </a:solidFill>
              </a:rPr>
              <a:t>segments</a:t>
            </a:r>
            <a:pPr indent="0" marL="0">
              <a:buNone/>
            </a:pPr>
            <a:r>
              <a:rPr lang="en-US" sz="1500" dirty="0">
                <a:solidFill>
                  <a:schemeClr val="tx2"/>
                </a:solidFill>
              </a:rPr>
              <a:t>, as the paper does, so pieces of one song can sit in both train and test; we test what that does later.</a:t>
            </a:r>
            <a:endParaRPr lang="en-US" sz="15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MODELS</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Three reference models and our extension</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src/models.py · activations follow the authors' TensorFlow code</a:t>
            </a:r>
            <a:endParaRPr lang="en-US" sz="1100" dirty="0"/>
          </a:p>
        </p:txBody>
      </p:sp>
      <p:graphicFrame>
        <p:nvGraphicFramePr>
          <p:cNvPr id="5" name="Models table"/>
          <p:cNvGraphicFramePr>
            <a:graphicFrameLocks noGrp="1"/>
          </p:cNvGraphicFramePr>
          <p:nvPr>
            <p:extLst>
              <p:ext uri="{D42A27DB-BD31-4B8C-83A1-F6EECF244321}">
                <p14:modId xmlns:p14="http://schemas.microsoft.com/office/powerpoint/2010/main" val="1579011935"/>
              </p:ext>
            </p:extLst>
          </p:nvPr>
        </p:nvGraphicFramePr>
        <p:xfrm>
          <a:off x="685800" y="2011680"/>
          <a:ext cx="10820095" cy="914400"/>
        </p:xfrm>
        <a:graphic>
          <a:graphicData uri="http://schemas.openxmlformats.org/drawingml/2006/table">
            <a:tbl>
              <a:tblPr/>
              <a:tblGrid>
                <a:gridCol w="2103120"/>
                <a:gridCol w="4876495"/>
                <a:gridCol w="1828800"/>
                <a:gridCol w="2011680"/>
              </a:tblGrid>
              <a:tr h="0">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Architecture</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Loss</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l" indent="0" marL="0">
                        <a:buNone/>
                      </a:pPr>
                      <a:r>
                        <a:rPr lang="en-US" sz="1500" b="1" dirty="0">
                          <a:solidFill>
                            <a:schemeClr val="bg1"/>
                          </a:solidFill>
                          <a:latin typeface="Calibri" pitchFamily="34" charset="0"/>
                          <a:ea typeface="Calibri" pitchFamily="34" charset="-122"/>
                          <a:cs typeface="Calibri" pitchFamily="34" charset="-120"/>
                        </a:rPr>
                        <a:t>Training</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r>
              <a:tr h="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Two-layer NN</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500 → 128 (tanh) → 4</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cross-entropy</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Adam 1e-4, 200 epochs</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Vanilla AE</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500-256-192-128-64-128-192-256-500</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MSE</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Adam 1e-4, 500 epochs</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Deep Softmax AE</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same AE + 64 → 32 → 16 → 4 on the bottleneck</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0.9·MSE + 0.1·CE</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Adam 1e-4, 500 epochs</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1-D CNN (ours)</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E6EEF9"/>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4 × [Conv1d k9 · BN · ReLU · pool], 32-64-128-128 ch → global avg pool → 4</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E6EEF9"/>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cross-entropy</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E6EEF9"/>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Adam 1e-3, 40 epochs</a:t>
                      </a:r>
                      <a:endParaRPr lang="en-US" sz="15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E6EEF9"/>
                    </a:solidFill>
                  </a:tcPr>
                </a:tc>
              </a:tr>
            </a:tbl>
          </a:graphicData>
        </a:graphic>
      </p:graphicFrame>
      <p:sp>
        <p:nvSpPr>
          <p:cNvPr id="6" name="Text 3"/>
          <p:cNvSpPr txBox="1"/>
          <p:nvPr/>
        </p:nvSpPr>
        <p:spPr>
          <a:xfrm>
            <a:off x="685800" y="4343400"/>
            <a:ext cx="10820095" cy="822960"/>
          </a:xfrm>
          <a:prstGeom prst="rect">
            <a:avLst/>
          </a:prstGeom>
          <a:noFill/>
          <a:ln/>
        </p:spPr>
        <p:txBody>
          <a:bodyPr wrap="square" lIns="0" tIns="0" rIns="0" bIns="0" rtlCol="0" anchor="t"/>
          <a:lstStyle/>
          <a:p>
            <a:pPr indent="0" marL="0">
              <a:buNone/>
            </a:pPr>
            <a:r>
              <a:rPr lang="en-US" sz="1600" dirty="0">
                <a:solidFill>
                  <a:schemeClr val="tx2"/>
                </a:solidFill>
              </a:rPr>
              <a:t>Reference models: batch 512, dropout keep-prob 0.9. All models: 3 seeds; we test the checkpoint with the best dev accuracy. The CNN has 0.24 M parameters, against 0.42 M for the DSAE.</a:t>
            </a:r>
            <a:endParaRPr lang="en-US" sz="16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PART 1 · REPORTED VS OURS</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The reproduction lands within 3–4 points</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Ours: mean ± std over 3 seeds · original experiment, 400 songs, 6,000 / 1,000 / 1,000 segment split · results/tables.md</a:t>
            </a:r>
            <a:endParaRPr lang="en-US" sz="1100" dirty="0"/>
          </a:p>
        </p:txBody>
      </p:sp>
      <p:graphicFrame>
        <p:nvGraphicFramePr>
          <p:cNvPr id="6" name="Reproduction table"/>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2133295"/>
                <a:gridCol w="1447495"/>
                <a:gridCol w="1447495"/>
                <a:gridCol w="1447495"/>
                <a:gridCol w="1447495"/>
                <a:gridCol w="1447495"/>
                <a:gridCol w="1449324"/>
              </a:tblGrid>
              <a:tr h="0">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Accuracy (%)</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Train rep.</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Train ours</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Dev rep.</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Dev ours</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Test rep.</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Test ours</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Two-layer NN</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52.0</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51.9 ± 0.9</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38.1</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39.4 ± 0.6</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36.4</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39.8 ± 1.3</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Deep Softmax AE</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94.9</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88.7 ± 2.4</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64.1</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63.0 ± 1.5</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65.3</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61.7 ± 1.2</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bl>
          </a:graphicData>
        </a:graphic>
      </p:graphicFrame>
      <p:sp>
        <p:nvSpPr>
          <p:cNvPr id="6" name="Last-epoch reading"/>
          <p:cNvSpPr/>
          <p:nvPr/>
        </p:nvSpPr>
        <p:spPr>
          <a:xfrm>
            <a:off x="685800" y="3429000"/>
            <a:ext cx="5227168" cy="1783080"/>
          </a:xfrm>
          <a:prstGeom prst="roundRect">
            <a:avLst>
              <a:gd name="adj" fmla="val 6154"/>
            </a:avLst>
          </a:prstGeom>
          <a:solidFill>
            <a:schemeClr val="bg1"/>
          </a:solidFill>
          <a:ln w="9525">
            <a:solidFill>
              <a:srgbClr val="DDDBD3"/>
            </a:solidFill>
            <a:prstDash val="solid"/>
          </a:ln>
        </p:spPr>
      </p:sp>
      <p:sp>
        <p:nvSpPr>
          <p:cNvPr id="7" name="Text 4"/>
          <p:cNvSpPr txBox="1"/>
          <p:nvPr/>
        </p:nvSpPr>
        <p:spPr>
          <a:xfrm>
            <a:off x="1005840" y="3657600"/>
            <a:ext cx="4587088" cy="365760"/>
          </a:xfrm>
          <a:prstGeom prst="rect">
            <a:avLst/>
          </a:prstGeom>
          <a:noFill/>
          <a:ln/>
        </p:spPr>
        <p:txBody>
          <a:bodyPr wrap="square" lIns="0" tIns="0" rIns="0" bIns="0" rtlCol="0" anchor="t"/>
          <a:lstStyle/>
          <a:p>
            <a:pPr indent="0" marL="0">
              <a:buNone/>
            </a:pPr>
            <a:r>
              <a:rPr lang="en-US" sz="1800" b="1" dirty="0">
                <a:solidFill>
                  <a:schemeClr val="tx1"/>
                </a:solidFill>
              </a:rPr>
              <a:t>Last-epoch reading</a:t>
            </a:r>
            <a:endParaRPr lang="en-US" sz="1800" dirty="0"/>
          </a:p>
        </p:txBody>
      </p:sp>
      <p:sp>
        <p:nvSpPr>
          <p:cNvPr id="8" name="Text 5"/>
          <p:cNvSpPr txBox="1"/>
          <p:nvPr/>
        </p:nvSpPr>
        <p:spPr>
          <a:xfrm>
            <a:off x="1005840" y="4114800"/>
            <a:ext cx="4587088" cy="1005840"/>
          </a:xfrm>
          <a:prstGeom prst="rect">
            <a:avLst/>
          </a:prstGeom>
          <a:noFill/>
          <a:ln/>
        </p:spPr>
        <p:txBody>
          <a:bodyPr wrap="square" lIns="0" tIns="0" rIns="0" bIns="0" rtlCol="0" anchor="t"/>
          <a:lstStyle/>
          <a:p>
            <a:pPr indent="0" marL="0">
              <a:buNone/>
            </a:pPr>
            <a:r>
              <a:rPr lang="en-US" sz="1500" dirty="0">
                <a:solidFill>
                  <a:schemeClr val="tx2"/>
                </a:solidFill>
              </a:rPr>
              <a:t>Reading the DSAE at epoch 500, as the paper appears to: 97.0 / 59.5 / 60.1 %. The paper's high train figure is the running, overfit training accuracy.</a:t>
            </a:r>
            <a:endParaRPr lang="en-US" sz="1500" dirty="0"/>
          </a:p>
        </p:txBody>
      </p:sp>
      <p:sp>
        <p:nvSpPr>
          <p:cNvPr id="9" name="Why not identical"/>
          <p:cNvSpPr/>
          <p:nvPr/>
        </p:nvSpPr>
        <p:spPr>
          <a:xfrm>
            <a:off x="6278728" y="3429000"/>
            <a:ext cx="5227168" cy="1783080"/>
          </a:xfrm>
          <a:prstGeom prst="roundRect">
            <a:avLst>
              <a:gd name="adj" fmla="val 6154"/>
            </a:avLst>
          </a:prstGeom>
          <a:solidFill>
            <a:schemeClr val="bg1"/>
          </a:solidFill>
          <a:ln w="9525">
            <a:solidFill>
              <a:srgbClr val="DDDBD3"/>
            </a:solidFill>
            <a:prstDash val="solid"/>
          </a:ln>
        </p:spPr>
      </p:sp>
      <p:sp>
        <p:nvSpPr>
          <p:cNvPr id="10" name="Text 7"/>
          <p:cNvSpPr txBox="1"/>
          <p:nvPr/>
        </p:nvSpPr>
        <p:spPr>
          <a:xfrm>
            <a:off x="6598768" y="3657600"/>
            <a:ext cx="4587088" cy="365760"/>
          </a:xfrm>
          <a:prstGeom prst="rect">
            <a:avLst/>
          </a:prstGeom>
          <a:noFill/>
          <a:ln/>
        </p:spPr>
        <p:txBody>
          <a:bodyPr wrap="square" lIns="0" tIns="0" rIns="0" bIns="0" rtlCol="0" anchor="t"/>
          <a:lstStyle/>
          <a:p>
            <a:pPr indent="0" marL="0">
              <a:buNone/>
            </a:pPr>
            <a:r>
              <a:rPr lang="en-US" sz="1800" b="1" dirty="0">
                <a:solidFill>
                  <a:schemeClr val="tx1"/>
                </a:solidFill>
              </a:rPr>
              <a:t>Why not identical</a:t>
            </a:r>
            <a:endParaRPr lang="en-US" sz="1800" dirty="0"/>
          </a:p>
        </p:txBody>
      </p:sp>
      <p:sp>
        <p:nvSpPr>
          <p:cNvPr id="11" name="Text 8"/>
          <p:cNvSpPr txBox="1"/>
          <p:nvPr/>
        </p:nvSpPr>
        <p:spPr>
          <a:xfrm>
            <a:off x="6598768" y="4114800"/>
            <a:ext cx="4587088" cy="1005840"/>
          </a:xfrm>
          <a:prstGeom prst="rect">
            <a:avLst/>
          </a:prstGeom>
          <a:noFill/>
          <a:ln/>
        </p:spPr>
        <p:txBody>
          <a:bodyPr wrap="square" lIns="0" tIns="0" rIns="0" bIns="0" rtlCol="0" anchor="t"/>
          <a:lstStyle/>
          <a:p>
            <a:pPr indent="0" marL="0">
              <a:buNone/>
            </a:pPr>
            <a:r>
              <a:rPr lang="en-US" sz="1500" dirty="0">
                <a:solidFill>
                  <a:schemeClr val="tx2"/>
                </a:solidFill>
              </a:rPr>
              <a:t>The paper used one random split (seeds vary ±1.5 points), an unstated stopping rule, keep-prob 0.9 in the text but 0.8 in the code, and TF1 instead of PyTorch.</a:t>
            </a:r>
            <a:endParaRPr lang="en-US" sz="1500" dirty="0"/>
          </a:p>
        </p:txBody>
      </p:sp>
      <p:sp>
        <p:nvSpPr>
          <p:cNvPr id="12" name="Text 9"/>
          <p:cNvSpPr txBox="1"/>
          <p:nvPr/>
        </p:nvSpPr>
        <p:spPr>
          <a:xfrm>
            <a:off x="685800" y="5440680"/>
            <a:ext cx="10820095" cy="548640"/>
          </a:xfrm>
          <a:prstGeom prst="rect">
            <a:avLst/>
          </a:prstGeom>
          <a:noFill/>
          <a:ln/>
        </p:spPr>
        <p:txBody>
          <a:bodyPr wrap="square" lIns="0" tIns="0" rIns="0" bIns="0" rtlCol="0" anchor="t"/>
          <a:lstStyle/>
          <a:p>
            <a:pPr indent="0" marL="0">
              <a:buNone/>
            </a:pPr>
            <a:r>
              <a:rPr lang="en-US" sz="1400" i="1" dirty="0">
                <a:solidFill>
                  <a:schemeClr val="tx2"/>
                </a:solidFill>
              </a:rPr>
              <a:t>These full-run results are from the original saved experiment. The cleaned-data notebook run is separate and is not a full retraining of all models.</a:t>
            </a:r>
            <a:endParaRPr lang="en-US" sz="14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PART 1 · PER-CLASS METRICS</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Same ranking: classical easiest, metal hardest</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Reported = paper Table 2 · ours = mean of 3 seeds</a:t>
            </a:r>
            <a:endParaRPr lang="en-US" sz="1100" dirty="0"/>
          </a:p>
        </p:txBody>
      </p:sp>
      <p:graphicFrame>
        <p:nvGraphicFramePr>
          <p:cNvPr id="7" name="Per-class table"/>
          <p:cNvGraphicFramePr>
            <a:graphicFrameLocks noGrp="1"/>
          </p:cNvGraphicFramePr>
          <p:nvPr>
            <p:extLst>
              <p:ext uri="{D42A27DB-BD31-4B8C-83A1-F6EECF244321}">
                <p14:modId xmlns:p14="http://schemas.microsoft.com/office/powerpoint/2010/main" val="1579011935"/>
              </p:ext>
            </p:extLst>
          </p:nvPr>
        </p:nvGraphicFramePr>
        <p:xfrm>
          <a:off x="685800" y="1828800"/>
          <a:ext cx="10820095" cy="914400"/>
        </p:xfrm>
        <a:graphic>
          <a:graphicData uri="http://schemas.openxmlformats.org/drawingml/2006/table">
            <a:tbl>
              <a:tblPr/>
              <a:tblGrid>
                <a:gridCol w="2133295"/>
                <a:gridCol w="1447495"/>
                <a:gridCol w="1447495"/>
                <a:gridCol w="1447495"/>
                <a:gridCol w="1447495"/>
                <a:gridCol w="1447495"/>
                <a:gridCol w="1449324"/>
              </a:tblGrid>
              <a:tr h="0">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DSAE, test</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Prec. rep.</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Prec. ours</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Recall rep.</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Recall ours</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F1 rep.</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F1 ours</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classical</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0.783</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0.764</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0.775</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0.770</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0.779</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0.766</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jazz</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0.606</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0.580</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0.627</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0.571</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0.616</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0.575</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metal</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0.515</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0.514</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0.554</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0.523</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0.534</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0.518</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pop</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0.670</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0.621</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0.608</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0.608</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0.638</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0.613</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85800" y="4160520"/>
            <a:ext cx="10820095" cy="1097280"/>
          </a:xfrm>
          <a:prstGeom prst="rect">
            <a:avLst/>
          </a:prstGeom>
          <a:noFill/>
          <a:ln/>
        </p:spPr>
        <p:txBody>
          <a:bodyPr wrap="square" lIns="0" tIns="0" rIns="0" bIns="0" rtlCol="0" anchor="t"/>
          <a:lstStyle/>
          <a:p>
            <a:pPr indent="0" marL="0">
              <a:buNone/>
            </a:pPr>
            <a:r>
              <a:rPr lang="en-US" sz="1700" dirty="0">
                <a:solidFill>
                  <a:schemeClr val="tx2"/>
                </a:solidFill>
              </a:rPr>
              <a:t>The error pattern matches too: metal ↔ pop and classical ↔ jazz are the main confusions, and the PCA of the DSAE's logits shows the same curved manifold, with pop the most spread out.</a:t>
            </a:r>
            <a:endParaRPr lang="en-US" sz="17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20040"/>
          </a:xfrm>
          <a:prstGeom prst="rect">
            <a:avLst/>
          </a:prstGeom>
          <a:noFill/>
          <a:ln/>
        </p:spPr>
        <p:txBody>
          <a:bodyPr wrap="square" lIns="0" tIns="0" rIns="0" bIns="0" rtlCol="0" anchor="t"/>
          <a:lstStyle/>
          <a:p>
            <a:pPr indent="0" marL="0">
              <a:buNone/>
            </a:pPr>
            <a:r>
              <a:rPr lang="en-US" sz="1200" b="1" spc="200" kern="0" dirty="0">
                <a:solidFill>
                  <a:schemeClr val="accent3"/>
                </a:solidFill>
                <a:latin typeface="Courier New" pitchFamily="34" charset="0"/>
                <a:ea typeface="Courier New" pitchFamily="34" charset="-122"/>
                <a:cs typeface="Courier New" pitchFamily="34" charset="-120"/>
              </a:rPr>
              <a:t>WHAT THE PAPER DOESN'T SAY</a:t>
            </a:r>
            <a:endParaRPr lang="en-US" sz="1200" dirty="0"/>
          </a:p>
        </p:txBody>
      </p:sp>
      <p:sp>
        <p:nvSpPr>
          <p:cNvPr id="3" name="Text 0"/>
          <p:cNvSpPr/>
          <p:nvPr>
            <p:ph idx="101" type="title" hasCustomPrompt="1"/>
          </p:nvPr>
        </p:nvSpPr>
        <p:spPr>
          <a:xfrm>
            <a:off x="685800" y="96012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rPr>
              <a:t>The decoder only ever outputs zero</a:t>
            </a:r>
            <a:endParaRPr lang="en-US" sz="4000" dirty="0"/>
          </a:p>
        </p:txBody>
      </p:sp>
      <p:sp>
        <p:nvSpPr>
          <p:cNvPr id="4" name="Text 2"/>
          <p:cNvSpPr txBox="1"/>
          <p:nvPr/>
        </p:nvSpPr>
        <p:spPr>
          <a:xfrm>
            <a:off x="685800" y="2514600"/>
            <a:ext cx="3657600" cy="822960"/>
          </a:xfrm>
          <a:prstGeom prst="rect">
            <a:avLst/>
          </a:prstGeom>
          <a:noFill/>
          <a:ln/>
        </p:spPr>
        <p:txBody>
          <a:bodyPr wrap="square" lIns="0" tIns="0" rIns="0" bIns="0" rtlCol="0" anchor="t"/>
          <a:lstStyle/>
          <a:p>
            <a:pPr indent="0" marL="0">
              <a:buNone/>
            </a:pPr>
            <a:r>
              <a:rPr lang="en-US" sz="4800" b="1" dirty="0">
                <a:solidFill>
                  <a:schemeClr val="accent3"/>
                </a:solidFill>
              </a:rPr>
              <a:t>0.01173</a:t>
            </a:r>
            <a:endParaRPr lang="en-US" sz="4800" dirty="0"/>
          </a:p>
        </p:txBody>
      </p:sp>
      <p:sp>
        <p:nvSpPr>
          <p:cNvPr id="5" name="Text 3"/>
          <p:cNvSpPr txBox="1"/>
          <p:nvPr/>
        </p:nvSpPr>
        <p:spPr>
          <a:xfrm>
            <a:off x="685800" y="3337560"/>
            <a:ext cx="3657600" cy="365760"/>
          </a:xfrm>
          <a:prstGeom prst="rect">
            <a:avLst/>
          </a:prstGeom>
          <a:noFill/>
          <a:ln/>
        </p:spPr>
        <p:txBody>
          <a:bodyPr wrap="square" lIns="0" tIns="0" rIns="0" bIns="0" rtlCol="0" anchor="t"/>
          <a:lstStyle/>
          <a:p>
            <a:pPr indent="0" marL="0">
              <a:buNone/>
            </a:pPr>
            <a:r>
              <a:rPr lang="en-US" sz="1500" dirty="0">
                <a:solidFill>
                  <a:schemeClr val="accent3"/>
                </a:solidFill>
              </a:rPr>
              <a:t>vanilla AE test reconstruction MSE</a:t>
            </a:r>
            <a:endParaRPr lang="en-US" sz="1500" dirty="0"/>
          </a:p>
        </p:txBody>
      </p:sp>
      <p:sp>
        <p:nvSpPr>
          <p:cNvPr id="6" name="Text 4"/>
          <p:cNvSpPr txBox="1"/>
          <p:nvPr/>
        </p:nvSpPr>
        <p:spPr>
          <a:xfrm>
            <a:off x="4526280" y="2514600"/>
            <a:ext cx="3657600" cy="822960"/>
          </a:xfrm>
          <a:prstGeom prst="rect">
            <a:avLst/>
          </a:prstGeom>
          <a:noFill/>
          <a:ln/>
        </p:spPr>
        <p:txBody>
          <a:bodyPr wrap="square" lIns="0" tIns="0" rIns="0" bIns="0" rtlCol="0" anchor="t"/>
          <a:lstStyle/>
          <a:p>
            <a:pPr indent="0" marL="0">
              <a:buNone/>
            </a:pPr>
            <a:r>
              <a:rPr lang="en-US" sz="4800" b="1" dirty="0">
                <a:solidFill>
                  <a:schemeClr val="bg1"/>
                </a:solidFill>
              </a:rPr>
              <a:t>0.01172</a:t>
            </a:r>
            <a:endParaRPr lang="en-US" sz="4800" dirty="0"/>
          </a:p>
        </p:txBody>
      </p:sp>
      <p:sp>
        <p:nvSpPr>
          <p:cNvPr id="7" name="Text 5"/>
          <p:cNvSpPr txBox="1"/>
          <p:nvPr/>
        </p:nvSpPr>
        <p:spPr>
          <a:xfrm>
            <a:off x="4526280" y="3337560"/>
            <a:ext cx="3657600" cy="365760"/>
          </a:xfrm>
          <a:prstGeom prst="rect">
            <a:avLst/>
          </a:prstGeom>
          <a:noFill/>
          <a:ln/>
        </p:spPr>
        <p:txBody>
          <a:bodyPr wrap="square" lIns="0" tIns="0" rIns="0" bIns="0" rtlCol="0" anchor="t"/>
          <a:lstStyle/>
          <a:p>
            <a:pPr indent="0" marL="0">
              <a:buNone/>
            </a:pPr>
            <a:r>
              <a:rPr lang="en-US" sz="1500" dirty="0">
                <a:solidFill>
                  <a:schemeClr val="accent3"/>
                </a:solidFill>
              </a:rPr>
              <a:t>variance of the same test segments</a:t>
            </a:r>
            <a:endParaRPr lang="en-US" sz="1500" dirty="0"/>
          </a:p>
        </p:txBody>
      </p:sp>
      <p:sp>
        <p:nvSpPr>
          <p:cNvPr id="8" name="Text 6"/>
          <p:cNvSpPr txBox="1"/>
          <p:nvPr/>
        </p:nvSpPr>
        <p:spPr>
          <a:xfrm>
            <a:off x="685800" y="4069080"/>
            <a:ext cx="10820095" cy="1783080"/>
          </a:xfrm>
          <a:prstGeom prst="rect">
            <a:avLst/>
          </a:prstGeom>
          <a:noFill/>
          <a:ln/>
        </p:spPr>
        <p:txBody>
          <a:bodyPr wrap="square" lIns="0" tIns="0" rIns="0" bIns="0" rtlCol="0" anchor="t"/>
          <a:lstStyle/>
          <a:p>
            <a:pPr indent="0" marL="0">
              <a:buNone/>
            </a:pPr>
            <a:r>
              <a:rPr lang="en-US" sz="1800" dirty="0">
                <a:solidFill>
                  <a:schemeClr val="bg1"/>
                </a:solidFill>
              </a:rPr>
              <a:t>The decoder ends in a ReLU, so it cannot output negative amplitudes (51 % of samples). We ran all 5 saved autoencoder checkpoints (1 vanilla AE, 4 DSAE runs) on all 8,000 segments: every decoder output was exactly 0. The reconstruction term is therefore a constant that adds no gradient, so the DSAE effectively trains as a deep MLP classifier, consistent with its 97 % train vs 60 % test gap.</a:t>
            </a:r>
            <a:endParaRPr lang="en-US" sz="18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PART 2 · WHY A 1-D CNN</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Raw audio needs translation invariance, which an MLP lacks</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None of the paper's experiments uses a convolutional model</a:t>
            </a:r>
            <a:endParaRPr lang="en-US" sz="1100" dirty="0"/>
          </a:p>
        </p:txBody>
      </p:sp>
      <p:sp>
        <p:nvSpPr>
          <p:cNvPr id="5" name="The problem card"/>
          <p:cNvSpPr/>
          <p:nvPr/>
        </p:nvSpPr>
        <p:spPr>
          <a:xfrm>
            <a:off x="685800" y="2011680"/>
            <a:ext cx="3423818" cy="3429000"/>
          </a:xfrm>
          <a:prstGeom prst="roundRect">
            <a:avLst>
              <a:gd name="adj" fmla="val 3205"/>
            </a:avLst>
          </a:prstGeom>
          <a:solidFill>
            <a:schemeClr val="bg1"/>
          </a:solidFill>
          <a:ln w="9525">
            <a:solidFill>
              <a:srgbClr val="DDDBD3"/>
            </a:solidFill>
            <a:prstDash val="solid"/>
          </a:ln>
        </p:spPr>
      </p:sp>
      <p:sp>
        <p:nvSpPr>
          <p:cNvPr id="6" name="The problem icon circle"/>
          <p:cNvSpPr/>
          <p:nvPr/>
        </p:nvSpPr>
        <p:spPr>
          <a:xfrm>
            <a:off x="1005840" y="2286000"/>
            <a:ext cx="548640" cy="548640"/>
          </a:xfrm>
          <a:prstGeom prst="ellipse">
            <a:avLst/>
          </a:prstGeom>
          <a:solidFill>
            <a:schemeClr val="accent2"/>
          </a:solidFill>
          <a:ln w="12700">
            <a:solidFill>
              <a:schemeClr val="accent2"/>
            </a:solidFill>
            <a:prstDash val="solid"/>
          </a:ln>
        </p:spPr>
      </p:sp>
      <p:pic>
        <p:nvPicPr>
          <p:cNvPr id="7" name="The problem icon" descr="The problem">    </p:cNvPr>
          <p:cNvPicPr>
            <a:picLocks noChangeAspect="1"/>
          </p:cNvPicPr>
          <p:nvPr/>
        </p:nvPicPr>
        <p:blipFill>
          <a:blip r:embed="rId1"/>
          <a:stretch>
            <a:fillRect/>
          </a:stretch>
        </p:blipFill>
        <p:spPr>
          <a:xfrm>
            <a:off x="1143000" y="2423160"/>
            <a:ext cx="274320" cy="274320"/>
          </a:xfrm>
          <a:prstGeom prst="rect">
            <a:avLst/>
          </a:prstGeom>
        </p:spPr>
      </p:pic>
      <p:sp>
        <p:nvSpPr>
          <p:cNvPr id="8" name="Text 5"/>
          <p:cNvSpPr txBox="1"/>
          <p:nvPr/>
        </p:nvSpPr>
        <p:spPr>
          <a:xfrm>
            <a:off x="1005840" y="3017520"/>
            <a:ext cx="2783738" cy="411480"/>
          </a:xfrm>
          <a:prstGeom prst="rect">
            <a:avLst/>
          </a:prstGeom>
          <a:noFill/>
          <a:ln/>
        </p:spPr>
        <p:txBody>
          <a:bodyPr wrap="square" lIns="0" tIns="0" rIns="0" bIns="0" rtlCol="0" anchor="t"/>
          <a:lstStyle/>
          <a:p>
            <a:pPr indent="0" marL="0">
              <a:buNone/>
            </a:pPr>
            <a:r>
              <a:rPr lang="en-US" sz="2000" b="1" dirty="0">
                <a:solidFill>
                  <a:schemeClr val="tx1"/>
                </a:solidFill>
              </a:rPr>
              <a:t>The problem</a:t>
            </a:r>
            <a:endParaRPr lang="en-US" sz="2000" dirty="0"/>
          </a:p>
        </p:txBody>
      </p:sp>
      <p:sp>
        <p:nvSpPr>
          <p:cNvPr id="9" name="Text 6"/>
          <p:cNvSpPr txBox="1"/>
          <p:nvPr/>
        </p:nvSpPr>
        <p:spPr>
          <a:xfrm>
            <a:off x="1005840" y="3520440"/>
            <a:ext cx="2783738" cy="1783080"/>
          </a:xfrm>
          <a:prstGeom prst="rect">
            <a:avLst/>
          </a:prstGeom>
          <a:noFill/>
          <a:ln/>
        </p:spPr>
        <p:txBody>
          <a:bodyPr wrap="square" lIns="0" tIns="0" rIns="0" bIns="0" rtlCol="0" anchor="t"/>
          <a:lstStyle/>
          <a:p>
            <a:pPr indent="0" marL="0">
              <a:buNone/>
            </a:pPr>
            <a:r>
              <a:rPr lang="en-US" sz="1500" dirty="0">
                <a:solidFill>
                  <a:schemeClr val="tx2"/>
                </a:solidFill>
              </a:rPr>
              <a:t>A drum hit or a chord can start at any of the 500 positions. An MLP treats every position as an unrelated feature and has to relearn each pattern everywhere, so it overfits.</a:t>
            </a:r>
            <a:endParaRPr lang="en-US" sz="1500" dirty="0"/>
          </a:p>
        </p:txBody>
      </p:sp>
      <p:sp>
        <p:nvSpPr>
          <p:cNvPr id="10" name="The fix card"/>
          <p:cNvSpPr/>
          <p:nvPr/>
        </p:nvSpPr>
        <p:spPr>
          <a:xfrm>
            <a:off x="4383938" y="2011680"/>
            <a:ext cx="3423818" cy="3429000"/>
          </a:xfrm>
          <a:prstGeom prst="roundRect">
            <a:avLst>
              <a:gd name="adj" fmla="val 3205"/>
            </a:avLst>
          </a:prstGeom>
          <a:solidFill>
            <a:schemeClr val="bg1"/>
          </a:solidFill>
          <a:ln w="9525">
            <a:solidFill>
              <a:srgbClr val="DDDBD3"/>
            </a:solidFill>
            <a:prstDash val="solid"/>
          </a:ln>
        </p:spPr>
      </p:sp>
      <p:sp>
        <p:nvSpPr>
          <p:cNvPr id="11" name="The fix icon circle"/>
          <p:cNvSpPr/>
          <p:nvPr/>
        </p:nvSpPr>
        <p:spPr>
          <a:xfrm>
            <a:off x="4703978" y="2286000"/>
            <a:ext cx="548640" cy="548640"/>
          </a:xfrm>
          <a:prstGeom prst="ellipse">
            <a:avLst/>
          </a:prstGeom>
          <a:solidFill>
            <a:schemeClr val="accent2"/>
          </a:solidFill>
          <a:ln w="12700">
            <a:solidFill>
              <a:schemeClr val="accent2"/>
            </a:solidFill>
            <a:prstDash val="solid"/>
          </a:ln>
        </p:spPr>
      </p:sp>
      <p:pic>
        <p:nvPicPr>
          <p:cNvPr id="12" name="The fix icon" descr="The fix">    </p:cNvPr>
          <p:cNvPicPr>
            <a:picLocks noChangeAspect="1"/>
          </p:cNvPicPr>
          <p:nvPr/>
        </p:nvPicPr>
        <p:blipFill>
          <a:blip r:embed="rId2"/>
          <a:stretch>
            <a:fillRect/>
          </a:stretch>
        </p:blipFill>
        <p:spPr>
          <a:xfrm>
            <a:off x="4841138" y="2423160"/>
            <a:ext cx="274320" cy="274320"/>
          </a:xfrm>
          <a:prstGeom prst="rect">
            <a:avLst/>
          </a:prstGeom>
        </p:spPr>
      </p:pic>
      <p:sp>
        <p:nvSpPr>
          <p:cNvPr id="13" name="Text 9"/>
          <p:cNvSpPr txBox="1"/>
          <p:nvPr/>
        </p:nvSpPr>
        <p:spPr>
          <a:xfrm>
            <a:off x="4703978" y="3017520"/>
            <a:ext cx="2783738" cy="411480"/>
          </a:xfrm>
          <a:prstGeom prst="rect">
            <a:avLst/>
          </a:prstGeom>
          <a:noFill/>
          <a:ln/>
        </p:spPr>
        <p:txBody>
          <a:bodyPr wrap="square" lIns="0" tIns="0" rIns="0" bIns="0" rtlCol="0" anchor="t"/>
          <a:lstStyle/>
          <a:p>
            <a:pPr indent="0" marL="0">
              <a:buNone/>
            </a:pPr>
            <a:r>
              <a:rPr lang="en-US" sz="2000" b="1" dirty="0">
                <a:solidFill>
                  <a:schemeClr val="tx1"/>
                </a:solidFill>
              </a:rPr>
              <a:t>The fix</a:t>
            </a:r>
            <a:endParaRPr lang="en-US" sz="2000" dirty="0"/>
          </a:p>
        </p:txBody>
      </p:sp>
      <p:sp>
        <p:nvSpPr>
          <p:cNvPr id="14" name="Text 10"/>
          <p:cNvSpPr txBox="1"/>
          <p:nvPr/>
        </p:nvSpPr>
        <p:spPr>
          <a:xfrm>
            <a:off x="4703978" y="3520440"/>
            <a:ext cx="2783738" cy="1783080"/>
          </a:xfrm>
          <a:prstGeom prst="rect">
            <a:avLst/>
          </a:prstGeom>
          <a:noFill/>
          <a:ln/>
        </p:spPr>
        <p:txBody>
          <a:bodyPr wrap="square" lIns="0" tIns="0" rIns="0" bIns="0" rtlCol="0" anchor="t"/>
          <a:lstStyle/>
          <a:p>
            <a:pPr indent="0" marL="0">
              <a:buNone/>
            </a:pPr>
            <a:r>
              <a:rPr lang="en-US" sz="1500" dirty="0">
                <a:solidFill>
                  <a:schemeClr val="tx2"/>
                </a:solidFill>
              </a:rPr>
              <a:t>Convolutions share filters across time, and pooling summarises them. In effect the network learns its own filter bank from the waveform, which keeps the paper's no-feature-engineering spirit.</a:t>
            </a:r>
            <a:endParaRPr lang="en-US" sz="1500" dirty="0"/>
          </a:p>
        </p:txBody>
      </p:sp>
      <p:sp>
        <p:nvSpPr>
          <p:cNvPr id="15" name="Fair test card"/>
          <p:cNvSpPr/>
          <p:nvPr/>
        </p:nvSpPr>
        <p:spPr>
          <a:xfrm>
            <a:off x="8082077" y="2011680"/>
            <a:ext cx="3423818" cy="3429000"/>
          </a:xfrm>
          <a:prstGeom prst="roundRect">
            <a:avLst>
              <a:gd name="adj" fmla="val 3205"/>
            </a:avLst>
          </a:prstGeom>
          <a:solidFill>
            <a:schemeClr val="bg1"/>
          </a:solidFill>
          <a:ln w="9525">
            <a:solidFill>
              <a:srgbClr val="DDDBD3"/>
            </a:solidFill>
            <a:prstDash val="solid"/>
          </a:ln>
        </p:spPr>
      </p:sp>
      <p:sp>
        <p:nvSpPr>
          <p:cNvPr id="16" name="Fair test icon circle"/>
          <p:cNvSpPr/>
          <p:nvPr/>
        </p:nvSpPr>
        <p:spPr>
          <a:xfrm>
            <a:off x="8402117" y="2286000"/>
            <a:ext cx="548640" cy="548640"/>
          </a:xfrm>
          <a:prstGeom prst="ellipse">
            <a:avLst/>
          </a:prstGeom>
          <a:solidFill>
            <a:schemeClr val="accent2"/>
          </a:solidFill>
          <a:ln w="12700">
            <a:solidFill>
              <a:schemeClr val="accent2"/>
            </a:solidFill>
            <a:prstDash val="solid"/>
          </a:ln>
        </p:spPr>
      </p:sp>
      <p:pic>
        <p:nvPicPr>
          <p:cNvPr id="17" name="Fair test icon" descr="Fair test">    </p:cNvPr>
          <p:cNvPicPr>
            <a:picLocks noChangeAspect="1"/>
          </p:cNvPicPr>
          <p:nvPr/>
        </p:nvPicPr>
        <p:blipFill>
          <a:blip r:embed="rId3"/>
          <a:stretch>
            <a:fillRect/>
          </a:stretch>
        </p:blipFill>
        <p:spPr>
          <a:xfrm>
            <a:off x="8539277" y="2423160"/>
            <a:ext cx="274320" cy="274320"/>
          </a:xfrm>
          <a:prstGeom prst="rect">
            <a:avLst/>
          </a:prstGeom>
        </p:spPr>
      </p:pic>
      <p:sp>
        <p:nvSpPr>
          <p:cNvPr id="18" name="Text 13"/>
          <p:cNvSpPr txBox="1"/>
          <p:nvPr/>
        </p:nvSpPr>
        <p:spPr>
          <a:xfrm>
            <a:off x="8402117" y="3017520"/>
            <a:ext cx="2783738" cy="411480"/>
          </a:xfrm>
          <a:prstGeom prst="rect">
            <a:avLst/>
          </a:prstGeom>
          <a:noFill/>
          <a:ln/>
        </p:spPr>
        <p:txBody>
          <a:bodyPr wrap="square" lIns="0" tIns="0" rIns="0" bIns="0" rtlCol="0" anchor="t"/>
          <a:lstStyle/>
          <a:p>
            <a:pPr indent="0" marL="0">
              <a:buNone/>
            </a:pPr>
            <a:r>
              <a:rPr lang="en-US" sz="2000" b="1" dirty="0">
                <a:solidFill>
                  <a:schemeClr val="tx1"/>
                </a:solidFill>
              </a:rPr>
              <a:t>Fair test</a:t>
            </a:r>
            <a:endParaRPr lang="en-US" sz="2000" dirty="0"/>
          </a:p>
        </p:txBody>
      </p:sp>
      <p:sp>
        <p:nvSpPr>
          <p:cNvPr id="19" name="Text 14"/>
          <p:cNvSpPr txBox="1"/>
          <p:nvPr/>
        </p:nvSpPr>
        <p:spPr>
          <a:xfrm>
            <a:off x="8402117" y="3520440"/>
            <a:ext cx="2783738" cy="1783080"/>
          </a:xfrm>
          <a:prstGeom prst="rect">
            <a:avLst/>
          </a:prstGeom>
          <a:noFill/>
          <a:ln/>
        </p:spPr>
        <p:txBody>
          <a:bodyPr wrap="square" lIns="0" tIns="0" rIns="0" bIns="0" rtlCol="0" anchor="t"/>
          <a:lstStyle/>
          <a:p>
            <a:pPr indent="0" marL="0">
              <a:buNone/>
            </a:pPr>
            <a:r>
              <a:rPr lang="en-US" sz="1500" dirty="0">
                <a:solidFill>
                  <a:schemeClr val="tx2"/>
                </a:solidFill>
              </a:rPr>
              <a:t>Same 500-sample input, the same split and seeds, and the same metrics. It is smaller than the DSAE (0.24 M vs 0.42 M parameters) and has no autoencoder.</a:t>
            </a:r>
            <a:endParaRPr lang="en-US" sz="15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PART 2 · RESULT</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The CNN beats every reference model by a wide margin</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Verdict: better, by about 25 points, with fewer parameters</a:t>
            </a:r>
            <a:endParaRPr lang="en-US" sz="1100" dirty="0"/>
          </a:p>
        </p:txBody>
      </p:sp>
      <p:pic>
        <p:nvPicPr>
          <p:cNvPr id="5" name="Accuracy chart" descr="Bar chart of test accuracy: two-layer NN 39.8, Deep Softmax AE 61.7, 1-D CNN 87.3 percent on the segment split; on the song-level split 45.6, 64.6 and 78.8 percent; dashed lines mark the paper's reported 36.4 and 65.3">    </p:cNvPr>
          <p:cNvPicPr>
            <a:picLocks noChangeAspect="1"/>
          </p:cNvPicPr>
          <p:nvPr/>
        </p:nvPicPr>
        <p:blipFill>
          <a:blip r:embed="rId1"/>
          <a:stretch>
            <a:fillRect/>
          </a:stretch>
        </p:blipFill>
        <p:spPr>
          <a:xfrm>
            <a:off x="685800" y="2011680"/>
            <a:ext cx="7315200" cy="3316224"/>
          </a:xfrm>
          <a:prstGeom prst="rect">
            <a:avLst/>
          </a:prstGeom>
        </p:spPr>
      </p:pic>
      <p:sp>
        <p:nvSpPr>
          <p:cNvPr id="6" name="Text 3"/>
          <p:cNvSpPr txBox="1"/>
          <p:nvPr/>
        </p:nvSpPr>
        <p:spPr>
          <a:xfrm>
            <a:off x="8412480" y="2286000"/>
            <a:ext cx="3108960" cy="822960"/>
          </a:xfrm>
          <a:prstGeom prst="rect">
            <a:avLst/>
          </a:prstGeom>
          <a:noFill/>
          <a:ln/>
        </p:spPr>
        <p:txBody>
          <a:bodyPr wrap="square" lIns="0" tIns="0" rIns="0" bIns="0" rtlCol="0" anchor="t"/>
          <a:lstStyle/>
          <a:p>
            <a:pPr indent="0" marL="0">
              <a:buNone/>
            </a:pPr>
            <a:r>
              <a:rPr lang="en-US" sz="4800" b="1" dirty="0">
                <a:solidFill>
                  <a:schemeClr val="accent2"/>
                </a:solidFill>
              </a:rPr>
              <a:t>87.3 %</a:t>
            </a:r>
            <a:endParaRPr lang="en-US" sz="4800" dirty="0"/>
          </a:p>
        </p:txBody>
      </p:sp>
      <p:sp>
        <p:nvSpPr>
          <p:cNvPr id="7" name="Text 4"/>
          <p:cNvSpPr txBox="1"/>
          <p:nvPr/>
        </p:nvSpPr>
        <p:spPr>
          <a:xfrm>
            <a:off x="8412480" y="3108960"/>
            <a:ext cx="3108960" cy="548640"/>
          </a:xfrm>
          <a:prstGeom prst="rect">
            <a:avLst/>
          </a:prstGeom>
          <a:noFill/>
          <a:ln/>
        </p:spPr>
        <p:txBody>
          <a:bodyPr wrap="square" lIns="0" tIns="0" rIns="0" bIns="0" rtlCol="0" anchor="t"/>
          <a:lstStyle/>
          <a:p>
            <a:pPr indent="0" marL="0">
              <a:buNone/>
            </a:pPr>
            <a:r>
              <a:rPr lang="en-US" sz="1400" dirty="0">
                <a:solidFill>
                  <a:schemeClr val="tx2"/>
                </a:solidFill>
              </a:rPr>
              <a:t>CNN test accuracy, ± 0.7 over 3 seeds</a:t>
            </a:r>
            <a:endParaRPr lang="en-US" sz="1400" dirty="0"/>
          </a:p>
        </p:txBody>
      </p:sp>
      <p:sp>
        <p:nvSpPr>
          <p:cNvPr id="8" name="Text 5"/>
          <p:cNvSpPr txBox="1"/>
          <p:nvPr/>
        </p:nvSpPr>
        <p:spPr>
          <a:xfrm>
            <a:off x="8412480" y="3977640"/>
            <a:ext cx="3108960" cy="548640"/>
          </a:xfrm>
          <a:prstGeom prst="rect">
            <a:avLst/>
          </a:prstGeom>
          <a:noFill/>
          <a:ln/>
        </p:spPr>
        <p:txBody>
          <a:bodyPr wrap="square" lIns="0" tIns="0" rIns="0" bIns="0" rtlCol="0" anchor="t"/>
          <a:lstStyle/>
          <a:p>
            <a:pPr indent="0" marL="0">
              <a:buNone/>
            </a:pPr>
            <a:r>
              <a:rPr lang="en-US" sz="3000" b="1" dirty="0">
                <a:solidFill>
                  <a:schemeClr val="tx1"/>
                </a:solidFill>
              </a:rPr>
              <a:t>0.87 vs 0.62</a:t>
            </a:r>
            <a:endParaRPr lang="en-US" sz="3000" dirty="0"/>
          </a:p>
        </p:txBody>
      </p:sp>
      <p:sp>
        <p:nvSpPr>
          <p:cNvPr id="9" name="Text 6"/>
          <p:cNvSpPr txBox="1"/>
          <p:nvPr/>
        </p:nvSpPr>
        <p:spPr>
          <a:xfrm>
            <a:off x="8412480" y="4526280"/>
            <a:ext cx="3108960" cy="365760"/>
          </a:xfrm>
          <a:prstGeom prst="rect">
            <a:avLst/>
          </a:prstGeom>
          <a:noFill/>
          <a:ln/>
        </p:spPr>
        <p:txBody>
          <a:bodyPr wrap="square" lIns="0" tIns="0" rIns="0" bIns="0" rtlCol="0" anchor="t"/>
          <a:lstStyle/>
          <a:p>
            <a:pPr indent="0" marL="0">
              <a:buNone/>
            </a:pPr>
            <a:r>
              <a:rPr lang="en-US" sz="1400" dirty="0">
                <a:solidFill>
                  <a:schemeClr val="tx2"/>
                </a:solidFill>
              </a:rPr>
              <a:t>macro-F1, CNN vs DSAE</a:t>
            </a:r>
            <a:endParaRPr lang="en-US" sz="14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PART 2 · WHERE THE GAIN COMES FROM</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The CNN fixes the genres the paper found hardest</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Matrices: seed 0 test set · F1: mean of 3 seeds</a:t>
            </a:r>
            <a:endParaRPr lang="en-US" sz="1100" dirty="0"/>
          </a:p>
        </p:txBody>
      </p:sp>
      <p:pic>
        <p:nvPicPr>
          <p:cNvPr id="5" name="Confusion matrices" descr="Row-normalised test confusion matrices. DSAE diagonal: classical 0.77, jazz 0.60, metal 0.56, pop 0.54. CNN diagonal: classical 0.93, jazz 0.82, metal 0.95, pop 0.79">    </p:cNvPr>
          <p:cNvPicPr>
            <a:picLocks noChangeAspect="1"/>
          </p:cNvPicPr>
          <p:nvPr/>
        </p:nvPicPr>
        <p:blipFill>
          <a:blip r:embed="rId1"/>
          <a:stretch>
            <a:fillRect/>
          </a:stretch>
        </p:blipFill>
        <p:spPr>
          <a:xfrm>
            <a:off x="685800" y="2103120"/>
            <a:ext cx="7406640" cy="3127248"/>
          </a:xfrm>
          <a:prstGeom prst="rect">
            <a:avLst/>
          </a:prstGeom>
        </p:spPr>
      </p:pic>
      <p:graphicFrame>
        <p:nvGraphicFramePr>
          <p:cNvPr id="11" name="F1 table"/>
          <p:cNvGraphicFramePr>
            <a:graphicFrameLocks noGrp="1"/>
          </p:cNvGraphicFramePr>
          <p:nvPr>
            <p:extLst>
              <p:ext uri="{D42A27DB-BD31-4B8C-83A1-F6EECF244321}">
                <p14:modId xmlns:p14="http://schemas.microsoft.com/office/powerpoint/2010/main" val="1579011935"/>
              </p:ext>
            </p:extLst>
          </p:nvPr>
        </p:nvGraphicFramePr>
        <p:xfrm>
          <a:off x="8321040" y="2468880"/>
          <a:ext cx="3291840" cy="914400"/>
        </p:xfrm>
        <a:graphic>
          <a:graphicData uri="http://schemas.openxmlformats.org/drawingml/2006/table">
            <a:tbl>
              <a:tblPr/>
              <a:tblGrid>
                <a:gridCol w="1280160"/>
                <a:gridCol w="1005840"/>
                <a:gridCol w="1005840"/>
              </a:tblGrid>
              <a:tr h="0">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F1</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DSAE</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600" b="1" dirty="0">
                          <a:solidFill>
                            <a:schemeClr val="bg1"/>
                          </a:solidFill>
                          <a:latin typeface="Calibri" pitchFamily="34" charset="0"/>
                          <a:ea typeface="Calibri" pitchFamily="34" charset="-122"/>
                          <a:cs typeface="Calibri" pitchFamily="34" charset="-120"/>
                        </a:rPr>
                        <a:t>CNN</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classical</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0.77</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0.89</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jazz</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0.58</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0.84</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metal</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0.52</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0.88</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pop</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dirty="0">
                          <a:solidFill>
                            <a:schemeClr val="tx1"/>
                          </a:solidFill>
                          <a:latin typeface="Calibri" pitchFamily="34" charset="0"/>
                          <a:ea typeface="Calibri" pitchFamily="34" charset="-122"/>
                          <a:cs typeface="Calibri" pitchFamily="34" charset="-120"/>
                        </a:rPr>
                        <a:t>0.61</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600" b="1" dirty="0">
                          <a:solidFill>
                            <a:schemeClr val="tx1"/>
                          </a:solidFill>
                          <a:latin typeface="Calibri" pitchFamily="34" charset="0"/>
                          <a:ea typeface="Calibri" pitchFamily="34" charset="-122"/>
                          <a:cs typeface="Calibri" pitchFamily="34" charset="-120"/>
                        </a:rPr>
                        <a:t>0.87</a:t>
                      </a:r>
                      <a:endParaRPr lang="en-US" sz="16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QUALITATIVE · PCA OF 4-D LOGITS</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CNN encodings form four compact clusters</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Held-out dev + test segments of the original split (2,000), seed 0 · each panel highlights one genre</a:t>
            </a:r>
            <a:endParaRPr lang="en-US" sz="1100" dirty="0"/>
          </a:p>
        </p:txBody>
      </p:sp>
      <p:pic>
        <p:nvPicPr>
          <p:cNvPr id="5" name="PCA plots" descr="PCA of 4-dimensional logits on held-out data, one panel per genre for three models. Two-layer NN: one overlapping blob. Deep Softmax AE: a curved arc, as in the paper, with pop spread along it. 1-D CNN: separate compact clusters, with pop partly overlapping metal.">    </p:cNvPr>
          <p:cNvPicPr>
            <a:picLocks noChangeAspect="1"/>
          </p:cNvPicPr>
          <p:nvPr/>
        </p:nvPicPr>
        <p:blipFill>
          <a:blip r:embed="rId1"/>
          <a:stretch>
            <a:fillRect/>
          </a:stretch>
        </p:blipFill>
        <p:spPr>
          <a:xfrm>
            <a:off x="685800" y="1783080"/>
            <a:ext cx="6245412" cy="4343400"/>
          </a:xfrm>
          <a:prstGeom prst="rect">
            <a:avLst/>
          </a:prstGeom>
        </p:spPr>
      </p:pic>
      <p:sp>
        <p:nvSpPr>
          <p:cNvPr id="6" name="Text 3"/>
          <p:cNvSpPr txBox="1"/>
          <p:nvPr/>
        </p:nvSpPr>
        <p:spPr>
          <a:xfrm>
            <a:off x="7388412" y="2103120"/>
            <a:ext cx="4117483" cy="1097280"/>
          </a:xfrm>
          <a:prstGeom prst="rect">
            <a:avLst/>
          </a:prstGeom>
          <a:noFill/>
          <a:ln/>
        </p:spPr>
        <p:txBody>
          <a:bodyPr wrap="square" lIns="0" tIns="0" rIns="0" bIns="0" rtlCol="0" anchor="t"/>
          <a:lstStyle/>
          <a:p>
            <a:pPr indent="0" marL="0">
              <a:buNone/>
            </a:pPr>
            <a:r>
              <a:rPr lang="en-US" sz="1600" b="1" dirty="0">
                <a:solidFill>
                  <a:schemeClr val="tx1"/>
                </a:solidFill>
              </a:rPr>
              <a:t>Two-layer NN: </a:t>
            </a:r>
            <a:pPr indent="0" marL="0">
              <a:buNone/>
            </a:pPr>
            <a:r>
              <a:rPr lang="en-US" sz="1600" dirty="0">
                <a:solidFill>
                  <a:schemeClr val="tx2"/>
                </a:solidFill>
              </a:rPr>
              <a:t>one overlapping blob, as the paper found.</a:t>
            </a:r>
            <a:endParaRPr lang="en-US" sz="1600" dirty="0"/>
          </a:p>
        </p:txBody>
      </p:sp>
      <p:sp>
        <p:nvSpPr>
          <p:cNvPr id="7" name="Text 4"/>
          <p:cNvSpPr txBox="1"/>
          <p:nvPr/>
        </p:nvSpPr>
        <p:spPr>
          <a:xfrm>
            <a:off x="7388412" y="3337560"/>
            <a:ext cx="4117483" cy="1097280"/>
          </a:xfrm>
          <a:prstGeom prst="rect">
            <a:avLst/>
          </a:prstGeom>
          <a:noFill/>
          <a:ln/>
        </p:spPr>
        <p:txBody>
          <a:bodyPr wrap="square" lIns="0" tIns="0" rIns="0" bIns="0" rtlCol="0" anchor="t"/>
          <a:lstStyle/>
          <a:p>
            <a:pPr indent="0" marL="0">
              <a:buNone/>
            </a:pPr>
            <a:r>
              <a:rPr lang="en-US" sz="1600" b="1" dirty="0">
                <a:solidFill>
                  <a:schemeClr val="tx1"/>
                </a:solidFill>
              </a:rPr>
              <a:t>DSAE: </a:t>
            </a:r>
            <a:pPr indent="0" marL="0">
              <a:buNone/>
            </a:pPr>
            <a:r>
              <a:rPr lang="en-US" sz="1600" dirty="0">
                <a:solidFill>
                  <a:schemeClr val="tx2"/>
                </a:solidFill>
              </a:rPr>
              <a:t>the same smooth curved arc as the paper's Figure 6, with classical at one end and pop spread along it.</a:t>
            </a:r>
            <a:endParaRPr lang="en-US" sz="1600" dirty="0"/>
          </a:p>
        </p:txBody>
      </p:sp>
      <p:sp>
        <p:nvSpPr>
          <p:cNvPr id="8" name="Text 5"/>
          <p:cNvSpPr txBox="1"/>
          <p:nvPr/>
        </p:nvSpPr>
        <p:spPr>
          <a:xfrm>
            <a:off x="7388412" y="4572000"/>
            <a:ext cx="4117483" cy="1097280"/>
          </a:xfrm>
          <a:prstGeom prst="rect">
            <a:avLst/>
          </a:prstGeom>
          <a:noFill/>
          <a:ln/>
        </p:spPr>
        <p:txBody>
          <a:bodyPr wrap="square" lIns="0" tIns="0" rIns="0" bIns="0" rtlCol="0" anchor="t"/>
          <a:lstStyle/>
          <a:p>
            <a:pPr indent="0" marL="0">
              <a:buNone/>
            </a:pPr>
            <a:r>
              <a:rPr lang="en-US" sz="1600" b="1" dirty="0">
                <a:solidFill>
                  <a:schemeClr val="tx1"/>
                </a:solidFill>
              </a:rPr>
              <a:t>CNN: </a:t>
            </a:r>
            <a:pPr indent="0" marL="0">
              <a:buNone/>
            </a:pPr>
            <a:r>
              <a:rPr lang="en-US" sz="1600" dirty="0">
                <a:solidFill>
                  <a:schemeClr val="tx2"/>
                </a:solidFill>
              </a:rPr>
              <a:t>compact, separated regions per genre; pop remains the most spread out.</a:t>
            </a:r>
            <a:endParaRPr lang="en-US" sz="16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2"/>
                </a:solidFill>
                <a:latin typeface="Courier New" pitchFamily="34" charset="0"/>
                <a:ea typeface="Courier New" pitchFamily="34" charset="-122"/>
                <a:cs typeface="Courier New" pitchFamily="34" charset="-120"/>
              </a:rPr>
              <a:t>ROBUSTNESS · DATA LEAKAGE CHECK</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With no song shared across splits, the CNN still wins</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Song-level split: one seed, so differences of a few points for the MLPs are within noise</a:t>
            </a:r>
            <a:endParaRPr lang="en-US" sz="1100" dirty="0"/>
          </a:p>
        </p:txBody>
      </p:sp>
      <p:graphicFrame>
        <p:nvGraphicFramePr>
          <p:cNvPr id="13" name="Leakage table"/>
          <p:cNvGraphicFramePr>
            <a:graphicFrameLocks noGrp="1"/>
          </p:cNvGraphicFramePr>
          <p:nvPr>
            <p:extLst>
              <p:ext uri="{D42A27DB-BD31-4B8C-83A1-F6EECF244321}">
                <p14:modId xmlns:p14="http://schemas.microsoft.com/office/powerpoint/2010/main" val="1579011935"/>
              </p:ext>
            </p:extLst>
          </p:nvPr>
        </p:nvGraphicFramePr>
        <p:xfrm>
          <a:off x="685800" y="2011680"/>
          <a:ext cx="10820095" cy="914400"/>
        </p:xfrm>
        <a:graphic>
          <a:graphicData uri="http://schemas.openxmlformats.org/drawingml/2006/table">
            <a:tbl>
              <a:tblPr/>
              <a:tblGrid>
                <a:gridCol w="3657600"/>
                <a:gridCol w="3581705"/>
                <a:gridCol w="3580790"/>
              </a:tblGrid>
              <a:tr h="0">
                <a:tc>
                  <a:txBody>
                    <a:bodyPr/>
                    <a:lstStyle/>
                    <a:p>
                      <a:pPr algn="l" indent="0" marL="0">
                        <a:buNone/>
                      </a:pPr>
                      <a:r>
                        <a:rPr lang="en-US" sz="1700" b="1" dirty="0">
                          <a:solidFill>
                            <a:schemeClr val="bg1"/>
                          </a:solidFill>
                          <a:latin typeface="Calibri" pitchFamily="34" charset="0"/>
                          <a:ea typeface="Calibri" pitchFamily="34" charset="-122"/>
                          <a:cs typeface="Calibri" pitchFamily="34" charset="-120"/>
                        </a:rPr>
                        <a:t>Test accuracy (%)</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700" b="1" dirty="0">
                          <a:solidFill>
                            <a:schemeClr val="bg1"/>
                          </a:solidFill>
                          <a:latin typeface="Calibri" pitchFamily="34" charset="0"/>
                          <a:ea typeface="Calibri" pitchFamily="34" charset="-122"/>
                          <a:cs typeface="Calibri" pitchFamily="34" charset="-120"/>
                        </a:rPr>
                        <a:t>Segment split (paper)</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c>
                  <a:txBody>
                    <a:bodyPr/>
                    <a:lstStyle/>
                    <a:p>
                      <a:pPr algn="r" indent="0" marL="0">
                        <a:buNone/>
                      </a:pPr>
                      <a:r>
                        <a:rPr lang="en-US" sz="1700" b="1" dirty="0">
                          <a:solidFill>
                            <a:schemeClr val="bg1"/>
                          </a:solidFill>
                          <a:latin typeface="Calibri" pitchFamily="34" charset="0"/>
                          <a:ea typeface="Calibri" pitchFamily="34" charset="-122"/>
                          <a:cs typeface="Calibri" pitchFamily="34" charset="-120"/>
                        </a:rPr>
                        <a:t>Song-level split</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chemeClr val="tx1"/>
                    </a:solidFill>
                  </a:tcPr>
                </a:tc>
              </a:tr>
              <a:tr h="0">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Two-layer NN</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700" dirty="0">
                          <a:solidFill>
                            <a:schemeClr val="tx1"/>
                          </a:solidFill>
                          <a:latin typeface="Calibri" pitchFamily="34" charset="0"/>
                          <a:ea typeface="Calibri" pitchFamily="34" charset="-122"/>
                          <a:cs typeface="Calibri" pitchFamily="34" charset="-120"/>
                        </a:rPr>
                        <a:t>39.8</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700" dirty="0">
                          <a:solidFill>
                            <a:schemeClr val="tx1"/>
                          </a:solidFill>
                          <a:latin typeface="Calibri" pitchFamily="34" charset="0"/>
                          <a:ea typeface="Calibri" pitchFamily="34" charset="-122"/>
                          <a:cs typeface="Calibri" pitchFamily="34" charset="-120"/>
                        </a:rPr>
                        <a:t>45.6</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Deep Softmax AE</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700" dirty="0">
                          <a:solidFill>
                            <a:schemeClr val="tx1"/>
                          </a:solidFill>
                          <a:latin typeface="Calibri" pitchFamily="34" charset="0"/>
                          <a:ea typeface="Calibri" pitchFamily="34" charset="-122"/>
                          <a:cs typeface="Calibri" pitchFamily="34" charset="-120"/>
                        </a:rPr>
                        <a:t>61.7</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c>
                  <a:txBody>
                    <a:bodyPr/>
                    <a:lstStyle/>
                    <a:p>
                      <a:pPr algn="r" indent="0" marL="0">
                        <a:buNone/>
                      </a:pPr>
                      <a:r>
                        <a:rPr lang="en-US" sz="1700" dirty="0">
                          <a:solidFill>
                            <a:schemeClr val="tx1"/>
                          </a:solidFill>
                          <a:latin typeface="Calibri" pitchFamily="34" charset="0"/>
                          <a:ea typeface="Calibri" pitchFamily="34" charset="-122"/>
                          <a:cs typeface="Calibri" pitchFamily="34" charset="-120"/>
                        </a:rPr>
                        <a:t>64.6</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FFFFF"/>
                    </a:solidFill>
                  </a:tcPr>
                </a:tc>
              </a:tr>
              <a:tr h="0">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1-D CNN (ours)</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BE9DF"/>
                    </a:solidFill>
                  </a:tcPr>
                </a:tc>
                <a:tc>
                  <a:txBody>
                    <a:bodyPr/>
                    <a:lstStyle/>
                    <a:p>
                      <a:pPr algn="r" indent="0" marL="0">
                        <a:buNone/>
                      </a:pPr>
                      <a:r>
                        <a:rPr lang="en-US" sz="1700" b="1" dirty="0">
                          <a:solidFill>
                            <a:schemeClr val="tx1"/>
                          </a:solidFill>
                          <a:latin typeface="Calibri" pitchFamily="34" charset="0"/>
                          <a:ea typeface="Calibri" pitchFamily="34" charset="-122"/>
                          <a:cs typeface="Calibri" pitchFamily="34" charset="-120"/>
                        </a:rPr>
                        <a:t>87.3</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BE9DF"/>
                    </a:solidFill>
                  </a:tcPr>
                </a:tc>
                <a:tc>
                  <a:txBody>
                    <a:bodyPr/>
                    <a:lstStyle/>
                    <a:p>
                      <a:pPr algn="r" indent="0" marL="0">
                        <a:buNone/>
                      </a:pPr>
                      <a:r>
                        <a:rPr lang="en-US" sz="1700" b="1" dirty="0">
                          <a:solidFill>
                            <a:schemeClr val="tx1"/>
                          </a:solidFill>
                          <a:latin typeface="Calibri" pitchFamily="34" charset="0"/>
                          <a:ea typeface="Calibri" pitchFamily="34" charset="-122"/>
                          <a:cs typeface="Calibri" pitchFamily="34" charset="-120"/>
                        </a:rPr>
                        <a:t>78.8</a:t>
                      </a:r>
                      <a:endParaRPr lang="en-US" sz="1700" dirty="0">
                        <a:latin typeface="Calibri" charset="0"/>
                        <a:ea typeface="Calibri" charset="0"/>
                        <a:cs typeface="Calibri" charset="0"/>
                      </a:endParaRPr>
                    </a:p>
                  </a:txBody>
                  <a:tcPr marL="91440" marR="91440" marT="54864" marB="54864" anchor="ctr">
                    <a:lnL w="9525" cap="flat" cmpd="sng" algn="ctr">
                      <a:solidFill>
                        <a:srgbClr val="DDDBD3"/>
                      </a:solidFill>
                      <a:prstDash val="solid"/>
                      <a:round/>
                      <a:headEnd type="none" w="med" len="med"/>
                      <a:tailEnd type="none" w="med" len="med"/>
                    </a:lnL>
                    <a:lnR w="9525" cap="flat" cmpd="sng" algn="ctr">
                      <a:solidFill>
                        <a:srgbClr val="DDDBD3"/>
                      </a:solidFill>
                      <a:prstDash val="solid"/>
                      <a:round/>
                      <a:headEnd type="none" w="med" len="med"/>
                      <a:tailEnd type="none" w="med" len="med"/>
                    </a:lnR>
                    <a:lnT w="9525" cap="flat" cmpd="sng" algn="ctr">
                      <a:solidFill>
                        <a:srgbClr val="DDDBD3"/>
                      </a:solidFill>
                      <a:prstDash val="solid"/>
                      <a:round/>
                      <a:headEnd type="none" w="med" len="med"/>
                      <a:tailEnd type="none" w="med" len="med"/>
                    </a:lnT>
                    <a:lnB w="9525" cap="flat" cmpd="sng" algn="ctr">
                      <a:solidFill>
                        <a:srgbClr val="DDDBD3"/>
                      </a:solidFill>
                      <a:prstDash val="solid"/>
                      <a:round/>
                      <a:headEnd type="none" w="med" len="med"/>
                      <a:tailEnd type="none" w="med" len="med"/>
                    </a:lnB>
                    <a:solidFill>
                      <a:srgbClr val="FBE9DF"/>
                    </a:solidFill>
                  </a:tcPr>
                </a:tc>
              </a:tr>
            </a:tbl>
          </a:graphicData>
        </a:graphic>
      </p:graphicFrame>
      <p:sp>
        <p:nvSpPr>
          <p:cNvPr id="6" name="Text 3"/>
          <p:cNvSpPr txBox="1"/>
          <p:nvPr/>
        </p:nvSpPr>
        <p:spPr>
          <a:xfrm>
            <a:off x="685800" y="4023360"/>
            <a:ext cx="10820095" cy="1371600"/>
          </a:xfrm>
          <a:prstGeom prst="rect">
            <a:avLst/>
          </a:prstGeom>
          <a:noFill/>
          <a:ln/>
        </p:spPr>
        <p:txBody>
          <a:bodyPr wrap="square" lIns="0" tIns="0" rIns="0" bIns="0" rtlCol="0" anchor="t"/>
          <a:lstStyle/>
          <a:p>
            <a:pPr indent="0" marL="0">
              <a:buNone/>
            </a:pPr>
            <a:r>
              <a:rPr lang="en-US" sz="1700" dirty="0">
                <a:solidFill>
                  <a:schemeClr val="tx2"/>
                </a:solidFill>
              </a:rPr>
              <a:t>The paper's split lets segments of one song appear in both train and test. On a song-level split (75 / 12 / 13 songs per genre) the CNN drops about 8.5 points, which suggests the segment split gave it some advantage from other segments of the same songs, but it stays about 14 points ahead of the DSAE.</a:t>
            </a:r>
            <a:endParaRPr lang="en-US" sz="17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48640"/>
            <a:ext cx="10820095" cy="320040"/>
          </a:xfrm>
          <a:prstGeom prst="rect">
            <a:avLst/>
          </a:prstGeom>
          <a:noFill/>
          <a:ln/>
        </p:spPr>
        <p:txBody>
          <a:bodyPr wrap="square" lIns="0" tIns="0" rIns="0" bIns="0" rtlCol="0" anchor="t"/>
          <a:lstStyle/>
          <a:p>
            <a:pPr indent="0" marL="0">
              <a:buNone/>
            </a:pPr>
            <a:r>
              <a:rPr lang="en-US" sz="1200" b="1" spc="200" kern="0" dirty="0">
                <a:solidFill>
                  <a:schemeClr val="accent3"/>
                </a:solidFill>
                <a:latin typeface="Courier New" pitchFamily="34" charset="0"/>
                <a:ea typeface="Courier New" pitchFamily="34" charset="-122"/>
                <a:cs typeface="Courier New" pitchFamily="34" charset="-120"/>
              </a:rPr>
              <a:t>CONCLUSIONS</a:t>
            </a:r>
            <a:endParaRPr lang="en-US" sz="1200" dirty="0"/>
          </a:p>
        </p:txBody>
      </p:sp>
      <p:sp>
        <p:nvSpPr>
          <p:cNvPr id="3" name="Text 0"/>
          <p:cNvSpPr/>
          <p:nvPr>
            <p:ph idx="101" type="title" hasCustomPrompt="1"/>
          </p:nvPr>
        </p:nvSpPr>
        <p:spPr>
          <a:xfrm>
            <a:off x="685800" y="960120"/>
            <a:ext cx="10820095" cy="1371600"/>
          </a:xfrm>
          <a:prstGeom prst="rect">
            <a:avLst/>
          </a:prstGeom>
          <a:noFill/>
          <a:ln/>
        </p:spPr>
        <p:txBody>
          <a:bodyPr wrap="square" lIns="0" tIns="0" rIns="0" bIns="0" rtlCol="0" anchor="t"/>
          <a:lstStyle/>
          <a:p>
            <a:pPr algn="l" indent="0" marL="0">
              <a:buNone/>
            </a:pPr>
            <a:r>
              <a:rPr lang="en-US" sz="4000" b="1" dirty="0">
                <a:solidFill>
                  <a:schemeClr val="bg1"/>
                </a:solidFill>
              </a:rPr>
              <a:t>What we found</a:t>
            </a:r>
            <a:endParaRPr lang="en-US" sz="4000" dirty="0"/>
          </a:p>
        </p:txBody>
      </p:sp>
      <p:sp>
        <p:nvSpPr>
          <p:cNvPr id="4" name="Text 2"/>
          <p:cNvSpPr txBox="1"/>
          <p:nvPr/>
        </p:nvSpPr>
        <p:spPr>
          <a:xfrm>
            <a:off x="685800" y="2148840"/>
            <a:ext cx="548640" cy="640080"/>
          </a:xfrm>
          <a:prstGeom prst="rect">
            <a:avLst/>
          </a:prstGeom>
          <a:noFill/>
          <a:ln/>
        </p:spPr>
        <p:txBody>
          <a:bodyPr wrap="square" lIns="0" tIns="0" rIns="0" bIns="0" rtlCol="0" anchor="t"/>
          <a:lstStyle/>
          <a:p>
            <a:pPr indent="0" marL="0">
              <a:buNone/>
            </a:pPr>
            <a:r>
              <a:rPr lang="en-US" sz="3200" b="1" dirty="0">
                <a:solidFill>
                  <a:schemeClr val="accent3"/>
                </a:solidFill>
              </a:rPr>
              <a:t>1</a:t>
            </a:r>
            <a:endParaRPr lang="en-US" sz="3200" dirty="0"/>
          </a:p>
        </p:txBody>
      </p:sp>
      <p:sp>
        <p:nvSpPr>
          <p:cNvPr id="5" name="Text 3"/>
          <p:cNvSpPr txBox="1"/>
          <p:nvPr/>
        </p:nvSpPr>
        <p:spPr>
          <a:xfrm>
            <a:off x="1417320" y="2194560"/>
            <a:ext cx="10088575" cy="1097280"/>
          </a:xfrm>
          <a:prstGeom prst="rect">
            <a:avLst/>
          </a:prstGeom>
          <a:noFill/>
          <a:ln/>
        </p:spPr>
        <p:txBody>
          <a:bodyPr wrap="square" lIns="0" tIns="0" rIns="0" bIns="0" rtlCol="0" anchor="t"/>
          <a:lstStyle/>
          <a:p>
            <a:pPr indent="0" marL="0">
              <a:buNone/>
            </a:pPr>
            <a:r>
              <a:rPr lang="en-US" sz="2000" dirty="0">
                <a:solidFill>
                  <a:schemeClr val="bg1"/>
                </a:solidFill>
              </a:rPr>
              <a:t>In our original saved experiment the paper reproduces: the DSAE scores 61.7 % vs 65.3 % reported and the baseline 39.8 % vs 36.4 %, with the same per-class pattern and embeddings.</a:t>
            </a:r>
            <a:endParaRPr lang="en-US" sz="2000" dirty="0"/>
          </a:p>
        </p:txBody>
      </p:sp>
      <p:sp>
        <p:nvSpPr>
          <p:cNvPr id="6" name="Text 4"/>
          <p:cNvSpPr txBox="1"/>
          <p:nvPr/>
        </p:nvSpPr>
        <p:spPr>
          <a:xfrm>
            <a:off x="685800" y="3474720"/>
            <a:ext cx="548640" cy="640080"/>
          </a:xfrm>
          <a:prstGeom prst="rect">
            <a:avLst/>
          </a:prstGeom>
          <a:noFill/>
          <a:ln/>
        </p:spPr>
        <p:txBody>
          <a:bodyPr wrap="square" lIns="0" tIns="0" rIns="0" bIns="0" rtlCol="0" anchor="t"/>
          <a:lstStyle/>
          <a:p>
            <a:pPr indent="0" marL="0">
              <a:buNone/>
            </a:pPr>
            <a:r>
              <a:rPr lang="en-US" sz="3200" b="1" dirty="0">
                <a:solidFill>
                  <a:schemeClr val="accent3"/>
                </a:solidFill>
              </a:rPr>
              <a:t>2</a:t>
            </a:r>
            <a:endParaRPr lang="en-US" sz="3200" dirty="0"/>
          </a:p>
        </p:txBody>
      </p:sp>
      <p:sp>
        <p:nvSpPr>
          <p:cNvPr id="7" name="Text 5"/>
          <p:cNvSpPr txBox="1"/>
          <p:nvPr/>
        </p:nvSpPr>
        <p:spPr>
          <a:xfrm>
            <a:off x="1417320" y="3520440"/>
            <a:ext cx="10088575" cy="1097280"/>
          </a:xfrm>
          <a:prstGeom prst="rect">
            <a:avLst/>
          </a:prstGeom>
          <a:noFill/>
          <a:ln/>
        </p:spPr>
        <p:txBody>
          <a:bodyPr wrap="square" lIns="0" tIns="0" rIns="0" bIns="0" rtlCol="0" anchor="t"/>
          <a:lstStyle/>
          <a:p>
            <a:pPr indent="0" marL="0">
              <a:buNone/>
            </a:pPr>
            <a:r>
              <a:rPr lang="en-US" sz="2000" dirty="0">
                <a:solidFill>
                  <a:schemeClr val="bg1"/>
                </a:solidFill>
              </a:rPr>
              <a:t>Its reconstruction loss does nothing in the published design: the ReLU-output decoder outputs only zeros in all our saved checkpoints, so the DSAE's gain comes from its deeper encoder and classifier.</a:t>
            </a:r>
            <a:endParaRPr lang="en-US" sz="2000" dirty="0"/>
          </a:p>
        </p:txBody>
      </p:sp>
      <p:sp>
        <p:nvSpPr>
          <p:cNvPr id="8" name="Text 6"/>
          <p:cNvSpPr txBox="1"/>
          <p:nvPr/>
        </p:nvSpPr>
        <p:spPr>
          <a:xfrm>
            <a:off x="685800" y="4800600"/>
            <a:ext cx="548640" cy="640080"/>
          </a:xfrm>
          <a:prstGeom prst="rect">
            <a:avLst/>
          </a:prstGeom>
          <a:noFill/>
          <a:ln/>
        </p:spPr>
        <p:txBody>
          <a:bodyPr wrap="square" lIns="0" tIns="0" rIns="0" bIns="0" rtlCol="0" anchor="t"/>
          <a:lstStyle/>
          <a:p>
            <a:pPr indent="0" marL="0">
              <a:buNone/>
            </a:pPr>
            <a:r>
              <a:rPr lang="en-US" sz="3200" b="1" dirty="0">
                <a:solidFill>
                  <a:schemeClr val="accent2"/>
                </a:solidFill>
              </a:rPr>
              <a:t>3</a:t>
            </a:r>
            <a:endParaRPr lang="en-US" sz="3200" dirty="0"/>
          </a:p>
        </p:txBody>
      </p:sp>
      <p:sp>
        <p:nvSpPr>
          <p:cNvPr id="9" name="Text 7"/>
          <p:cNvSpPr txBox="1"/>
          <p:nvPr/>
        </p:nvSpPr>
        <p:spPr>
          <a:xfrm>
            <a:off x="1417320" y="4846320"/>
            <a:ext cx="10088575" cy="1097280"/>
          </a:xfrm>
          <a:prstGeom prst="rect">
            <a:avLst/>
          </a:prstGeom>
          <a:noFill/>
          <a:ln/>
        </p:spPr>
        <p:txBody>
          <a:bodyPr wrap="square" lIns="0" tIns="0" rIns="0" bIns="0" rtlCol="0" anchor="t"/>
          <a:lstStyle/>
          <a:p>
            <a:pPr indent="0" marL="0">
              <a:buNone/>
            </a:pPr>
            <a:r>
              <a:rPr lang="en-US" sz="2000" dirty="0">
                <a:solidFill>
                  <a:schemeClr val="bg1"/>
                </a:solidFill>
              </a:rPr>
              <a:t>A small 1-D CNN on the same raw input reaches 87.3 % (78.8 % with no shared songs, one seed). For raw audio, architecture matters more than the auxiliary loss.</a:t>
            </a:r>
            <a:endParaRPr lang="en-US" sz="2000" dirty="0"/>
          </a:p>
        </p:txBody>
      </p:sp>
      <p:sp>
        <p:nvSpPr>
          <p:cNvPr id="10" name="Results note"/>
          <p:cNvSpPr txBox="1"/>
          <p:nvPr/>
        </p:nvSpPr>
        <p:spPr>
          <a:xfrm>
            <a:off x="685800" y="6263640"/>
            <a:ext cx="9905695" cy="320040"/>
          </a:xfrm>
          <a:prstGeom prst="rect">
            <a:avLst/>
          </a:prstGeom>
          <a:noFill/>
          <a:ln/>
        </p:spPr>
        <p:txBody>
          <a:bodyPr wrap="square" lIns="0" tIns="0" rIns="0" bIns="0" rtlCol="0" anchor="ctr"/>
          <a:lstStyle/>
          <a:p>
            <a:pPr indent="0" marL="0">
              <a:buNone/>
            </a:pPr>
            <a:r>
              <a:rPr lang="en-US" sz="1200" dirty="0">
                <a:solidFill>
                  <a:schemeClr val="accent3"/>
                </a:solidFill>
              </a:rPr>
              <a:t>All figures: original saved experiment (400 songs, 8,000 segments), not a retraining on the cleaned 399-song data</a:t>
            </a:r>
            <a:endParaRPr lang="en-US" sz="12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457200"/>
            <a:ext cx="10820095" cy="32004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LIVE DEMO</a:t>
            </a:r>
            <a:endParaRPr lang="en-US" sz="1200" dirty="0"/>
          </a:p>
        </p:txBody>
      </p:sp>
      <p:sp>
        <p:nvSpPr>
          <p:cNvPr id="3" name="Text 0"/>
          <p:cNvSpPr/>
          <p:nvPr>
            <p:ph idx="101" type="title" hasCustomPrompt="1"/>
          </p:nvPr>
        </p:nvSpPr>
        <p:spPr>
          <a:xfrm>
            <a:off x="685800" y="804672"/>
            <a:ext cx="10820095" cy="960120"/>
          </a:xfrm>
          <a:prstGeom prst="rect">
            <a:avLst/>
          </a:prstGeom>
          <a:noFill/>
          <a:ln/>
        </p:spPr>
        <p:txBody>
          <a:bodyPr wrap="square" lIns="0" tIns="0" rIns="0" bIns="0" rtlCol="0" anchor="t"/>
          <a:lstStyle/>
          <a:p>
            <a:pPr algn="l" indent="0" marL="0">
              <a:buNone/>
            </a:pPr>
            <a:r>
              <a:rPr lang="en-US" sz="2800" b="1" dirty="0">
                <a:solidFill>
                  <a:schemeClr val="tx1"/>
                </a:solidFill>
              </a:rPr>
              <a:t>Classify a song: 20 segments, majority vote</a:t>
            </a:r>
            <a:endParaRPr lang="en-US" sz="2800" dirty="0"/>
          </a:p>
        </p:txBody>
      </p:sp>
      <p:sp>
        <p:nvSpPr>
          <p:cNvPr id="4" name="Text 0"/>
          <p:cNvSpPr/>
          <p:nvPr>
            <p:ph idx="102" type="body" hasCustomPrompt="1"/>
          </p:nvPr>
        </p:nvSpPr>
        <p:spPr>
          <a:xfrm>
            <a:off x="685800" y="6327648"/>
            <a:ext cx="9905695" cy="274320"/>
          </a:xfrm>
          <a:prstGeom prst="rect">
            <a:avLst/>
          </a:prstGeom>
          <a:noFill/>
          <a:ln/>
        </p:spPr>
        <p:txBody>
          <a:bodyPr wrap="square" lIns="0" tIns="0" rIns="0" bIns="0" rtlCol="0" anchor="ctr"/>
          <a:lstStyle/>
          <a:p>
            <a:pPr indent="0" marL="0">
              <a:buNone/>
            </a:pPr>
            <a:r>
              <a:rPr lang="en-US" sz="1100" dirty="0">
                <a:solidFill>
                  <a:schemeClr val="accent6"/>
                </a:solidFill>
              </a:rPr>
              <a:t>Vote order: classical, jazz, metal, pop · checkpoints in results/checkpoints</a:t>
            </a:r>
            <a:endParaRPr lang="en-US" sz="1100" dirty="0"/>
          </a:p>
        </p:txBody>
      </p:sp>
      <p:sp>
        <p:nvSpPr>
          <p:cNvPr id="5" name="Terminal"/>
          <p:cNvSpPr/>
          <p:nvPr/>
        </p:nvSpPr>
        <p:spPr>
          <a:xfrm>
            <a:off x="685800" y="1965960"/>
            <a:ext cx="10820095" cy="1874520"/>
          </a:xfrm>
          <a:prstGeom prst="roundRect">
            <a:avLst>
              <a:gd name="adj" fmla="val 5854"/>
            </a:avLst>
          </a:prstGeom>
          <a:solidFill>
            <a:schemeClr val="tx1"/>
          </a:solidFill>
          <a:ln w="12700">
            <a:solidFill>
              <a:schemeClr val="tx1"/>
            </a:solidFill>
            <a:prstDash val="solid"/>
          </a:ln>
        </p:spPr>
      </p:sp>
      <p:sp>
        <p:nvSpPr>
          <p:cNvPr id="6" name="Text 4"/>
          <p:cNvSpPr txBox="1"/>
          <p:nvPr/>
        </p:nvSpPr>
        <p:spPr>
          <a:xfrm>
            <a:off x="1051560" y="2240280"/>
            <a:ext cx="10088575" cy="1371600"/>
          </a:xfrm>
          <a:prstGeom prst="rect">
            <a:avLst/>
          </a:prstGeom>
          <a:noFill/>
          <a:ln/>
        </p:spPr>
        <p:txBody>
          <a:bodyPr wrap="square" lIns="0" tIns="0" rIns="0" bIns="0" rtlCol="0" anchor="t"/>
          <a:lstStyle/>
          <a:p>
            <a:pPr indent="0" marL="0">
              <a:buNone/>
            </a:pPr>
            <a:r>
              <a:rPr lang="en-US" sz="1500" dirty="0">
                <a:solidFill>
                  <a:schemeClr val="accent3"/>
                </a:solidFill>
                <a:latin typeface="Courier New" pitchFamily="34" charset="0"/>
                <a:ea typeface="Courier New" pitchFamily="34" charset="-122"/>
                <a:cs typeface="Courier New" pitchFamily="34" charset="-120"/>
              </a:rPr>
              <a:t>$ python src/demo.py data/genres/jazz/jazz.00007.wav</a:t>
            </a:r>
            <a:endParaRPr lang="en-US" sz="1500" dirty="0"/>
          </a:p>
          <a:p>
            <a:pPr indent="0" marL="0">
              <a:buNone/>
            </a:pPr>
            <a:r>
              <a:rPr lang="en-US" sz="1500" dirty="0">
                <a:solidFill>
                  <a:schemeClr val="tx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C9CDD6"/>
                </a:solidFill>
                <a:latin typeface="Courier New" pitchFamily="34" charset="0"/>
                <a:ea typeface="Courier New" pitchFamily="34" charset="-122"/>
                <a:cs typeface="Courier New" pitchFamily="34" charset="-120"/>
              </a:rPr>
              <a:t>two_layer_nn     → classical   votes [10, 6, 2, 2]</a:t>
            </a:r>
            <a:endParaRPr lang="en-US" sz="1500" dirty="0"/>
          </a:p>
          <a:p>
            <a:pPr indent="0" marL="0">
              <a:buNone/>
            </a:pPr>
            <a:r>
              <a:rPr lang="en-US" sz="1500" dirty="0">
                <a:solidFill>
                  <a:srgbClr val="C9CDD6"/>
                </a:solidFill>
                <a:latin typeface="Courier New" pitchFamily="34" charset="0"/>
                <a:ea typeface="Courier New" pitchFamily="34" charset="-122"/>
                <a:cs typeface="Courier New" pitchFamily="34" charset="-120"/>
              </a:rPr>
              <a:t>deep_softmax_ae  → jazz        votes [3, 17, 0, 0]</a:t>
            </a:r>
            <a:endParaRPr lang="en-US" sz="1500" dirty="0"/>
          </a:p>
          <a:p>
            <a:pPr indent="0" marL="0">
              <a:buNone/>
            </a:pPr>
            <a:r>
              <a:rPr lang="en-US" sz="1500" b="1" dirty="0">
                <a:solidFill>
                  <a:schemeClr val="bg1"/>
                </a:solidFill>
                <a:latin typeface="Courier New" pitchFamily="34" charset="0"/>
                <a:ea typeface="Courier New" pitchFamily="34" charset="-122"/>
                <a:cs typeface="Courier New" pitchFamily="34" charset="-120"/>
              </a:rPr>
              <a:t>cnn1d            → jazz        votes [3, 17, 0, 0]   p(jazz) = 0.81</a:t>
            </a:r>
            <a:endParaRPr lang="en-US" sz="1500" dirty="0"/>
          </a:p>
        </p:txBody>
      </p:sp>
      <p:sp>
        <p:nvSpPr>
          <p:cNvPr id="7" name="Text 5"/>
          <p:cNvSpPr txBox="1"/>
          <p:nvPr/>
        </p:nvSpPr>
        <p:spPr>
          <a:xfrm>
            <a:off x="685800" y="3931920"/>
            <a:ext cx="10820095" cy="320040"/>
          </a:xfrm>
          <a:prstGeom prst="rect">
            <a:avLst/>
          </a:prstGeom>
          <a:noFill/>
          <a:ln/>
        </p:spPr>
        <p:txBody>
          <a:bodyPr wrap="square" lIns="0" tIns="0" rIns="0" bIns="0" rtlCol="0" anchor="t"/>
          <a:lstStyle/>
          <a:p>
            <a:pPr indent="0" marL="0">
              <a:buNone/>
            </a:pPr>
            <a:r>
              <a:rPr lang="en-US" sz="1300" i="1" dirty="0">
                <a:solidFill>
                  <a:schemeClr val="accent6"/>
                </a:solidFill>
              </a:rPr>
              <a:t>Saved example output from the trained checkpoints; a live run on another song will give different votes.</a:t>
            </a:r>
            <a:endParaRPr lang="en-US" sz="1300" dirty="0"/>
          </a:p>
        </p:txBody>
      </p:sp>
      <p:sp>
        <p:nvSpPr>
          <p:cNvPr id="8" name="Text 6"/>
          <p:cNvSpPr txBox="1"/>
          <p:nvPr/>
        </p:nvSpPr>
        <p:spPr>
          <a:xfrm>
            <a:off x="685800" y="4434840"/>
            <a:ext cx="10820095" cy="1280160"/>
          </a:xfrm>
          <a:prstGeom prst="rect">
            <a:avLst/>
          </a:prstGeom>
          <a:noFill/>
          <a:ln/>
        </p:spPr>
        <p:txBody>
          <a:bodyPr wrap="square" lIns="0" tIns="0" rIns="0" bIns="0" rtlCol="0" anchor="t"/>
          <a:lstStyle/>
          <a:p>
            <a:pPr indent="0" marL="0">
              <a:buNone/>
            </a:pPr>
            <a:r>
              <a:rPr lang="en-US" sz="1600" b="1" dirty="0">
                <a:solidFill>
                  <a:schemeClr val="tx1"/>
                </a:solidFill>
              </a:rPr>
              <a:t>Full-run results use saved checkpoints; the notebook's short training runs are illustrative runs on the cleaned dataset. </a:t>
            </a:r>
            <a:pPr indent="0" marL="0">
              <a:buNone/>
            </a:pPr>
            <a:r>
              <a:rPr lang="en-US" sz="1600" dirty="0">
                <a:solidFill>
                  <a:schemeClr val="tx2"/>
                </a:solidFill>
              </a:rPr>
              <a:t>Also: </a:t>
            </a:r>
            <a:pPr indent="0" marL="0">
              <a:buNone/>
            </a:pPr>
            <a:r>
              <a:rPr lang="en-US" sz="1600" dirty="0">
                <a:solidFill>
                  <a:schemeClr val="accent1"/>
                </a:solidFill>
                <a:latin typeface="Courier New" pitchFamily="34" charset="0"/>
                <a:ea typeface="Courier New" pitchFamily="34" charset="-122"/>
                <a:cs typeface="Courier New" pitchFamily="34" charset="-120"/>
              </a:rPr>
              <a:t>python src/demo.py</a:t>
            </a:r>
            <a:pPr indent="0" marL="0">
              <a:buNone/>
            </a:pPr>
            <a:r>
              <a:rPr lang="en-US" sz="1600" dirty="0">
                <a:solidFill>
                  <a:schemeClr val="tx2"/>
                </a:solidFill>
              </a:rPr>
              <a:t> picks a random held-out song, </a:t>
            </a:r>
            <a:pPr indent="0" marL="0">
              <a:buNone/>
            </a:pPr>
            <a:r>
              <a:rPr lang="en-US" sz="1600" dirty="0">
                <a:solidFill>
                  <a:schemeClr val="accent1"/>
                </a:solidFill>
                <a:latin typeface="Courier New" pitchFamily="34" charset="0"/>
                <a:ea typeface="Courier New" pitchFamily="34" charset="-122"/>
                <a:cs typeface="Courier New" pitchFamily="34" charset="-120"/>
              </a:rPr>
              <a:t>demo.ipynb</a:t>
            </a:r>
            <a:pPr indent="0" marL="0">
              <a:buNone/>
            </a:pPr>
            <a:r>
              <a:rPr lang="en-US" sz="1600" dirty="0">
                <a:solidFill>
                  <a:schemeClr val="tx2"/>
                </a:solidFill>
              </a:rPr>
              <a:t> walks through the whole project in VS Code, and </a:t>
            </a:r>
            <a:pPr indent="0" marL="0">
              <a:buNone/>
            </a:pPr>
            <a:r>
              <a:rPr lang="en-US" sz="1600" dirty="0">
                <a:solidFill>
                  <a:schemeClr val="accent1"/>
                </a:solidFill>
                <a:latin typeface="Courier New" pitchFamily="34" charset="0"/>
                <a:ea typeface="Courier New" pitchFamily="34" charset="-122"/>
                <a:cs typeface="Courier New" pitchFamily="34" charset="-120"/>
              </a:rPr>
              <a:t>python src/analyze.py</a:t>
            </a:r>
            <a:pPr indent="0" marL="0">
              <a:buNone/>
            </a:pPr>
            <a:r>
              <a:rPr lang="en-US" sz="1600" dirty="0">
                <a:solidFill>
                  <a:schemeClr val="tx2"/>
                </a:solidFill>
              </a:rPr>
              <a:t> rebuilds every table and figure.</a:t>
            </a:r>
            <a:endParaRPr lang="en-US" sz="1600" dirty="0"/>
          </a:p>
        </p:txBody>
      </p:sp>
      <p:sp>
        <p:nvSpPr>
          <p:cNvPr id="25" name="Slide Number Placeholder 0"/>
          <p:cNvSpPr>
            <a:spLocks noGrp="1"/>
          </p:cNvSpPr>
          <p:nvPr>
            <p:ph type="sldNum" sz="quarter" idx="4294967295"/>
          </p:nvPr>
        </p:nvSpPr>
        <p:spPr>
          <a:xfrm>
            <a:off x="10957255" y="632764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Raw Audio">
  <a:themeElements>
    <a:clrScheme name="Raw Audio">
      <a:dk1>
        <a:srgbClr val="1B1F27"/>
      </a:dk1>
      <a:lt1>
        <a:srgbClr val="FFFFFF"/>
      </a:lt1>
      <a:dk2>
        <a:srgbClr val="4A4F5A"/>
      </a:dk2>
      <a:lt2>
        <a:srgbClr val="F7F6F2"/>
      </a:lt2>
      <a:accent1>
        <a:srgbClr val="2A68B8"/>
      </a:accent1>
      <a:accent2>
        <a:srgbClr val="C4521F"/>
      </a:accent2>
      <a:accent3>
        <a:srgbClr val="8FB8EC"/>
      </a:accent3>
      <a:accent4>
        <a:srgbClr val="E6EEF9"/>
      </a:accent4>
      <a:accent5>
        <a:srgbClr val="FBE9DF"/>
      </a:accent5>
      <a:accent6>
        <a:srgbClr val="7A7F89"/>
      </a:accent6>
      <a:hlink>
        <a:srgbClr val="2A68B8"/>
      </a:hlink>
      <a:folHlink>
        <a:srgbClr val="6250D6"/>
      </a:folHlink>
    </a:clrScheme>
    <a:fontScheme name="Raw Audi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genre from raw audio: reproduce and extend</dc:title>
  <dc:subject>PptxGenJS Presentation</dc:subject>
  <dc:creator>Shrungashree KR, Shashank Verma</dc:creator>
  <cp:lastModifiedBy>Shrungashree KR, Shashank Verma</cp:lastModifiedBy>
  <cp:revision>1</cp:revision>
  <dcterms:created xsi:type="dcterms:W3CDTF">2026-10-13T04:16:20Z</dcterms:created>
  <dcterms:modified xsi:type="dcterms:W3CDTF">2026-10-13T04:16:20Z</dcterms:modified>
</cp:coreProperties>
</file>